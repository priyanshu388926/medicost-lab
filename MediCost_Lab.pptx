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4ca969-df61-66f1-897b-d583fac0bb96}">
          <p14:sldIdLst>
            <p14:sldId id="256"/>
            <p14:sldId id="257"/>
            <p14:sldId id="258"/>
            <p14:sldId id="259"/>
          </p14:sldIdLst>
        </p14:section>
        <p14:section name="Regression" id="{07367ea0-93c7-8d17-278f-dfc870971722}">
          <p14:sldIdLst>
            <p14:sldId id="260"/>
            <p14:sldId id="261"/>
            <p14:sldId id="262"/>
            <p14:sldId id="263"/>
          </p14:sldIdLst>
        </p14:section>
        <p14:section name="Classification" id="{af522356-4693-a1a8-ea74-29479ff5930d}">
          <p14:sldIdLst>
            <p14:sldId id="264"/>
            <p14:sldId id="265"/>
            <p14:sldId id="266"/>
          </p14:sldIdLst>
        </p14:section>
        <p14:section name="Kernels" id="{90b1d7d2-5556-652d-9f77-b26fe93d3825}">
          <p14:sldIdLst>
            <p14:sldId id="267"/>
            <p14:sldId id="268"/>
          </p14:sldIdLst>
        </p14:section>
        <p14:section name="Wrap-up" id="{543ea486-9da5-520d-75f8-6f18fac15f2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Test R² (higher is better)</a:t>
            </a:r>
          </a:p>
        </c:rich>
      </c:tx>
      <c:layout/>
      <c:overlay val="0"/>
    </c:title>
    <c:autoTitleDeleted val="0"/>
    <c:plotArea>
      <c:layout/>
      <c:barChart>
        <c:barDir val="bar"/>
        <c:grouping val="clustered"/>
        <c:varyColors val="0"/>
        <c:ser>
          <c:idx val="0"/>
          <c:order val="0"/>
          <c:tx>
            <c:strRef>
              <c:f>Sheet1!$B$1</c:f>
              <c:strCache>
                <c:ptCount val="1"/>
                <c:pt idx="0">
                  <c:v>Test R²</c:v>
                </c:pt>
              </c:strCache>
            </c:strRef>
          </c:tx>
          <c:spPr>
            <a:solidFill>
              <a:srgbClr val="0F8B8D"/>
            </a:solidFill>
            <a:effectLst/>
          </c:spPr>
          <c:invertIfNegative val="0"/>
          <c:dLbls>
            <c:numFmt formatCode="0.000" sourceLinked="0"/>
            <c:txPr>
              <a:bodyPr/>
              <a:lstStyle/>
              <a:p>
                <a:pPr>
                  <a:defRPr b="0" i="0" strike="noStrike" sz="1200" u="none">
                    <a:solidFill>
                      <a:srgbClr val="1C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Least squares (MLE)</c:v>
                  </c:pt>
                  <c:pt idx="1">
                    <c:v>Robust (Huber loss)</c:v>
                  </c:pt>
                  <c:pt idx="2">
                    <c:v>Ridge regression</c:v>
                  </c:pt>
                  <c:pt idx="3">
                    <c:v>Bayesian linear regression</c:v>
                  </c:pt>
                  <c:pt idx="4">
                    <c:v>Kernel ridge (RBF)</c:v>
                  </c:pt>
                </c:lvl>
              </c:multiLvlStrCache>
            </c:multiLvlStrRef>
          </c:cat>
          <c:val>
            <c:numRef>
              <c:f>Sheet1!$B$2:$B$6</c:f>
              <c:numCache>
                <c:formatCode>General</c:formatCode>
                <c:ptCount val="5"/>
                <c:pt idx="0">
                  <c:v>0.7959403124253076</c:v>
                </c:pt>
                <c:pt idx="1">
                  <c:v>0.778445091904937</c:v>
                </c:pt>
                <c:pt idx="2">
                  <c:v>0.7858955237397521</c:v>
                </c:pt>
                <c:pt idx="3">
                  <c:v>0.7954566606345296</c:v>
                </c:pt>
                <c:pt idx="4">
                  <c:v>0.8682014428965056</c:v>
                </c:pt>
              </c:numCache>
            </c:numRef>
          </c:val>
        </c:ser>
        <c:dLbls>
          <c:numFmt formatCode="0.000" sourceLinked="0"/>
          <c:txPr>
            <a:bodyPr/>
            <a:lstStyle/>
            <a:p>
              <a:pPr>
                <a:defRPr b="0" i="0" strike="noStrike" sz="1200" u="none">
                  <a:solidFill>
                    <a:srgbClr val="1C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430"/>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13D"/>
                </a:solidFill>
                <a:latin typeface="+mn-lt"/>
              </a:defRPr>
            </a:pPr>
            <a:r>
              <a:rPr sz="1300" b="0" i="0" u="none" strike="noStrike">
                <a:solidFill>
                  <a:srgbClr val="14213D"/>
                </a:solidFill>
                <a:latin typeface="+mn-lt"/>
              </a:rPr>
              <a:t>Test accuracy (%), baseline 50%</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0F8B8D"/>
            </a:solidFill>
            <a:effectLst/>
          </c:spPr>
          <c:invertIfNegative val="0"/>
          <c:dLbls>
            <c:numFmt formatCode="0.0" sourceLinked="0"/>
            <c:txPr>
              <a:bodyPr/>
              <a:lstStyle/>
              <a:p>
                <a:pPr>
                  <a:defRPr b="0" i="0" strike="noStrike" sz="1100" u="none">
                    <a:solidFill>
                      <a:srgbClr val="1C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LDA</c:v>
                  </c:pt>
                  <c:pt idx="1">
                    <c:v>Naive Bayes</c:v>
                  </c:pt>
                  <c:pt idx="2">
                    <c:v>Logistic regression</c:v>
                  </c:pt>
                  <c:pt idx="3">
                    <c:v>Bayesian logistic (Laplace)</c:v>
                  </c:pt>
                  <c:pt idx="4">
                    <c:v>Kernel GLM (RBF)</c:v>
                  </c:pt>
                  <c:pt idx="5">
                    <c:v>SVM, linear</c:v>
                  </c:pt>
                  <c:pt idx="6">
                    <c:v>SVM, polynomial</c:v>
                  </c:pt>
                  <c:pt idx="7">
                    <c:v>SVM, RBF</c:v>
                  </c:pt>
                </c:lvl>
              </c:multiLvlStrCache>
            </c:multiLvlStrRef>
          </c:cat>
          <c:val>
            <c:numRef>
              <c:f>Sheet1!$B$2:$B$9</c:f>
              <c:numCache>
                <c:formatCode>General</c:formatCode>
                <c:ptCount val="8"/>
                <c:pt idx="0">
                  <c:v>90.1</c:v>
                </c:pt>
                <c:pt idx="1">
                  <c:v>74.3</c:v>
                </c:pt>
                <c:pt idx="2">
                  <c:v>90.7</c:v>
                </c:pt>
                <c:pt idx="3">
                  <c:v>90.7</c:v>
                </c:pt>
                <c:pt idx="4">
                  <c:v>91.3</c:v>
                </c:pt>
                <c:pt idx="5">
                  <c:v>90.7</c:v>
                </c:pt>
                <c:pt idx="6">
                  <c:v>91.9</c:v>
                </c:pt>
                <c:pt idx="7">
                  <c:v>92.5</c:v>
                </c:pt>
              </c:numCache>
            </c:numRef>
          </c:val>
        </c:ser>
        <c:dLbls>
          <c:numFmt formatCode="0.0" sourceLinked="0"/>
          <c:txPr>
            <a:bodyPr/>
            <a:lstStyle/>
            <a:p>
              <a:pPr>
                <a:defRPr b="0" i="0" strike="noStrike" sz="1100" u="none">
                  <a:solidFill>
                    <a:srgbClr val="1C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430"/>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one interactive web app that applies every Unit 2 topic to a real medical insurance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predicts the yearly bill in dollars. Classification flags customers whose bill is above the median of $9,386; by construction that is half of them, so the baseline accuracy is 50%. Smokers are 20.5% of customers but their average bill is 3.8 times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charges against age form three parallel bands; smokers (orange) occupy the upper two. Right: for smokers, charges jump at BMI 30, while for non-smokers BMI barely matters. This interaction is the key fact of the dataset: a purely linear model cannot represent it. Data: Medical Cost Personal dataset from Kaggle, 1,338 rows, one duplicate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with Streamlit. Pages 2 and 3 are regression, 4 and 5 classification, 6 kernels for both, 7 the live demo. The hour 18 infographic is a separate 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10. Assume y = w'x + Gaussian noise. Then maximising the log-likelihood over w is the same as minimising the sum of squared errors. The demo uses one feature, age, for non-smokers. The slider line (slope 120) is off the optimum; the negative log-likelihood curve bottoms out at the least squares slope of $267 per year of age. On all six features least squares reaches test R² 0.796, and the noise standard deviation at its MLE is about $6,100.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11, robust regression. A random share of training bills is multiplied by 5 to mimic data-entry errors, and both models are tested on clean data. Least squares test MAE rises from $4,069 to $8,749 at 14% corruption. Huber stays near $3,049. Huber loss is quadratic for small errors and linear for large ones, so bad points pull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11. Left: ridge coefficient paths; as lambda grows every weight shrinks toward zero. Ridge is the MAP estimate under a Gaussian prior. Right: Bayesian linear regression keeps a posterior over the weights, so each prediction has a predictive standard deviation. 95.2% of test bills fall within plus or minus two standard deviations (about $12,295).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of 335 customers. The four linear models differ only slightly because they share the same linear form. Kernel ridge with an RBF kernel captures the smoker and BMI interaction, lifting R² and cutting the mean absolute error by about $1,200.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12, 13 and 16. Target: bill above the median, so the baseline is 50%. LDA is the discriminant-function approach, Naive Bayes is generative, logistic regression is discriminative. The SVM with an RBF kernel is best on both accuracy and AUC. Naive Bayes is the outlier at 74% accuracy, explained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13, generative versus discriminative. Naive Bayes assumes features are independent given the class and Gaussian. The one-hot columns are neither. Its predicted probabilities pile up at 0 and 1, and it labels only 24% of test customers as high cost when the truth is 50%. Precision is 100% but recall only 48.5%. Its AUC is still 0.94 because the ordering of customers is fine. Logistic regression models p(class | x) directly and stays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14. Logistic regression has no closed-form posterior, so the Laplace approximation fits a Gaussian at the MAP weights with covariance from the Hessian. Left: each test customer's MAP probability against the Bayesian predictive probability, trained on only 40 customers; points bend toward 0.5 by up to 0.076. Right: posterior mean and plus or minus two standard deviations for each weight; only smoker and age are clearly non-zero with so little data. With all 1,002 training customers the two predictions agree. Implemented from scratch in models.py.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Hours 15 and 16. Left: kernel ridge regression on smokers' charges against BMI with linear, polynomial and RBF kernels. Only the RBF kernel follows the step. Right: SVM decision boundary on age and BMI for non-smokers; the boundary is essentially an age threshold, so here a linear kernel does as well as RBF. Kernels help where there is a real non-linearity, not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Hour 17 practice. The predictor page takes one customer and shows every regression estimate and every classifier's probability. For a 35-year-old female smoker with BMI 28 and one child, the estimates range from about $27,900 (kernel ridge) to $33,500 (Huber), and all eight classifiers say high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linear family behaves almost identically on clean data; the differences appear with outliers, small samples and non-linear structure. Be upfront about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run the app live: start with page 7, then page 3 to move the corruption slider, then page 6 to change the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r>
              <a:rPr lang="en-US" sz="4600" b="1" dirty="0">
                <a:solidFill>
                  <a:schemeClr val="bg1"/>
                </a:solidFill>
              </a:rPr>
              <a:t>Title</a:t>
            </a:r>
            <a:endParaRPr lang="en-US" sz="4600" dirty="0"/>
          </a:p>
        </p:txBody>
      </p:sp>
      <p:sp>
        <p:nvSpPr>
          <p:cNvPr id="3" name="Text 0"/>
          <p:cNvSpPr/>
          <p:nvPr>
            <p:ph idx="101" type="body" hasCustomPrompt="1"/>
          </p:nvPr>
        </p:nvSpPr>
        <p:spPr>
          <a:xfrm>
            <a:off x="548640" y="2651760"/>
            <a:ext cx="804672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r>
              <a:rPr lang="en-US" sz="2600" b="1" dirty="0">
                <a:solidFill>
                  <a:schemeClr val="tx2"/>
                </a:solidFill>
              </a:rPr>
              <a:t>Title</a:t>
            </a:r>
            <a:endParaRPr lang="en-US" sz="26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MediCost Lab  |  ML course, Unit 2: Linear Models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kaggle.com/datasets/mirichoi0218/insurance" TargetMode="Externa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lIns="0" tIns="0" rIns="0" bIns="0" rtlCol="0" anchor="b"/>
          <a:lstStyle/>
          <a:p>
            <a:pPr algn="l" indent="0" marL="0">
              <a:buNone/>
            </a:pPr>
            <a:r>
              <a:rPr lang="en-US" sz="4600" b="1" dirty="0">
                <a:solidFill>
                  <a:schemeClr val="bg1"/>
                </a:solidFill>
              </a:rPr>
              <a:t>MediCost Lab</a:t>
            </a:r>
            <a:endParaRPr lang="en-US" sz="4600" dirty="0"/>
          </a:p>
        </p:txBody>
      </p:sp>
      <p:sp>
        <p:nvSpPr>
          <p:cNvPr id="3" name="Text 0"/>
          <p:cNvSpPr/>
          <p:nvPr>
            <p:ph idx="101" type="body" hasCustomPrompt="1"/>
          </p:nvPr>
        </p:nvSpPr>
        <p:spPr>
          <a:xfrm>
            <a:off x="548640" y="2651760"/>
            <a:ext cx="8046720" cy="822960"/>
          </a:xfrm>
          <a:prstGeom prst="rect">
            <a:avLst/>
          </a:prstGeom>
          <a:noFill/>
          <a:ln/>
        </p:spPr>
        <p:txBody>
          <a:bodyPr wrap="square" lIns="0" tIns="0" rIns="0" bIns="0" rtlCol="0" anchor="t"/>
          <a:lstStyle/>
          <a:p>
            <a:pPr algn="l" indent="0" marL="0">
              <a:buNone/>
            </a:pPr>
            <a:r>
              <a:rPr lang="en-US" sz="2000" dirty="0">
                <a:solidFill>
                  <a:schemeClr val="bg2"/>
                </a:solidFill>
              </a:rPr>
              <a:t>Predicting medical insurance costs with linear models, Bayesian methods and kernels</a:t>
            </a:r>
            <a:endParaRPr lang="en-US" sz="2000" dirty="0"/>
          </a:p>
        </p:txBody>
      </p:sp>
      <p:sp>
        <p:nvSpPr>
          <p:cNvPr id="4" name="Byline"/>
          <p:cNvSpPr txBox="1"/>
          <p:nvPr/>
        </p:nvSpPr>
        <p:spPr>
          <a:xfrm>
            <a:off x="548640" y="4069080"/>
            <a:ext cx="8046720" cy="64008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Priyanshu  |  Ashish Kumar  |  Salil Pratap Singh  |  Vedang Pratap Singh</a:t>
            </a:r>
            <a:endParaRPr lang="en-US" sz="1400" dirty="0"/>
          </a:p>
          <a:p>
            <a:pPr indent="0" marL="0">
              <a:spcAft>
                <a:spcPts val="400"/>
              </a:spcAft>
              <a:buNone/>
            </a:pPr>
            <a:r>
              <a:rPr lang="en-US" sz="1400" dirty="0">
                <a:solidFill>
                  <a:schemeClr val="bg2"/>
                </a:solidFill>
              </a:rPr>
              <a:t>Machine Learning course project  |  Unit 2: Linear Models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An insurer asks two questions about every customer</a:t>
            </a:r>
            <a:endParaRPr lang="en-US" sz="2600" dirty="0"/>
          </a:p>
        </p:txBody>
      </p:sp>
      <p:sp>
        <p:nvSpPr>
          <p:cNvPr id="4" name="Question card A"/>
          <p:cNvSpPr/>
          <p:nvPr/>
        </p:nvSpPr>
        <p:spPr>
          <a:xfrm>
            <a:off x="457200" y="1325880"/>
            <a:ext cx="4023360" cy="1417320"/>
          </a:xfrm>
          <a:prstGeom prst="roundRect">
            <a:avLst>
              <a:gd name="adj" fmla="val 5161"/>
            </a:avLst>
          </a:prstGeom>
          <a:solidFill>
            <a:schemeClr val="bg2"/>
          </a:solidFill>
          <a:ln w="12700">
            <a:solidFill>
              <a:schemeClr val="bg2"/>
            </a:solidFill>
            <a:prstDash val="solid"/>
          </a:ln>
        </p:spPr>
      </p:sp>
      <p:sp>
        <p:nvSpPr>
          <p:cNvPr id="5" name="Question badge A"/>
          <p:cNvSpPr txBox="1"/>
          <p:nvPr/>
        </p:nvSpPr>
        <p:spPr>
          <a:xfrm>
            <a:off x="685800" y="1536192"/>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6" name="Question A"/>
          <p:cNvSpPr txBox="1"/>
          <p:nvPr/>
        </p:nvSpPr>
        <p:spPr>
          <a:xfrm>
            <a:off x="1234440" y="1463040"/>
            <a:ext cx="3108960" cy="548640"/>
          </a:xfrm>
          <a:prstGeom prst="rect">
            <a:avLst/>
          </a:prstGeom>
          <a:noFill/>
          <a:ln/>
        </p:spPr>
        <p:txBody>
          <a:bodyPr wrap="square" lIns="0" tIns="0" rIns="0" bIns="0" rtlCol="0" anchor="ctr"/>
          <a:lstStyle/>
          <a:p>
            <a:pPr indent="0" marL="0">
              <a:buNone/>
            </a:pPr>
            <a:r>
              <a:rPr lang="en-US" sz="1700" b="1" dirty="0">
                <a:solidFill>
                  <a:schemeClr val="tx2"/>
                </a:solidFill>
              </a:rPr>
              <a:t>What will this customer's yearly bill be?</a:t>
            </a:r>
            <a:endParaRPr lang="en-US" sz="1700" dirty="0"/>
          </a:p>
        </p:txBody>
      </p:sp>
      <p:sp>
        <p:nvSpPr>
          <p:cNvPr id="7" name="Question detail A"/>
          <p:cNvSpPr txBox="1"/>
          <p:nvPr/>
        </p:nvSpPr>
        <p:spPr>
          <a:xfrm>
            <a:off x="1234440" y="2057400"/>
            <a:ext cx="3108960" cy="594360"/>
          </a:xfrm>
          <a:prstGeom prst="rect">
            <a:avLst/>
          </a:prstGeom>
          <a:noFill/>
          <a:ln/>
        </p:spPr>
        <p:txBody>
          <a:bodyPr wrap="square" lIns="0" tIns="0" rIns="0" bIns="0" rtlCol="0" anchor="t"/>
          <a:lstStyle/>
          <a:p>
            <a:pPr indent="0" marL="0">
              <a:buNone/>
            </a:pPr>
            <a:r>
              <a:rPr lang="en-US" sz="1300" dirty="0">
                <a:solidFill>
                  <a:schemeClr val="tx1"/>
                </a:solidFill>
              </a:rPr>
              <a:t>Regression. Target: charges, in US dollars per year.</a:t>
            </a:r>
            <a:endParaRPr lang="en-US" sz="1300" dirty="0"/>
          </a:p>
        </p:txBody>
      </p:sp>
      <p:sp>
        <p:nvSpPr>
          <p:cNvPr id="8" name="Question card B"/>
          <p:cNvSpPr/>
          <p:nvPr/>
        </p:nvSpPr>
        <p:spPr>
          <a:xfrm>
            <a:off x="4663440" y="1325880"/>
            <a:ext cx="4023360" cy="1417320"/>
          </a:xfrm>
          <a:prstGeom prst="roundRect">
            <a:avLst>
              <a:gd name="adj" fmla="val 5161"/>
            </a:avLst>
          </a:prstGeom>
          <a:solidFill>
            <a:schemeClr val="bg2"/>
          </a:solidFill>
          <a:ln w="12700">
            <a:solidFill>
              <a:schemeClr val="bg2"/>
            </a:solidFill>
            <a:prstDash val="solid"/>
          </a:ln>
        </p:spPr>
      </p:sp>
      <p:sp>
        <p:nvSpPr>
          <p:cNvPr id="9" name="Question badge B"/>
          <p:cNvSpPr txBox="1"/>
          <p:nvPr/>
        </p:nvSpPr>
        <p:spPr>
          <a:xfrm>
            <a:off x="4892040" y="1536192"/>
            <a:ext cx="384048" cy="384048"/>
          </a:xfrm>
          <a:prstGeom prst="ellipse">
            <a:avLst/>
          </a:prstGeom>
          <a:solidFill>
            <a:srgbClr val="E4572E"/>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0" name="Question B"/>
          <p:cNvSpPr txBox="1"/>
          <p:nvPr/>
        </p:nvSpPr>
        <p:spPr>
          <a:xfrm>
            <a:off x="5440680" y="1463040"/>
            <a:ext cx="3108960" cy="548640"/>
          </a:xfrm>
          <a:prstGeom prst="rect">
            <a:avLst/>
          </a:prstGeom>
          <a:noFill/>
          <a:ln/>
        </p:spPr>
        <p:txBody>
          <a:bodyPr wrap="square" lIns="0" tIns="0" rIns="0" bIns="0" rtlCol="0" anchor="ctr"/>
          <a:lstStyle/>
          <a:p>
            <a:pPr indent="0" marL="0">
              <a:buNone/>
            </a:pPr>
            <a:r>
              <a:rPr lang="en-US" sz="1700" b="1" dirty="0">
                <a:solidFill>
                  <a:schemeClr val="tx2"/>
                </a:solidFill>
              </a:rPr>
              <a:t>Will this be a high-cost customer?</a:t>
            </a:r>
            <a:endParaRPr lang="en-US" sz="1700" dirty="0"/>
          </a:p>
        </p:txBody>
      </p:sp>
      <p:sp>
        <p:nvSpPr>
          <p:cNvPr id="11" name="Question detail B"/>
          <p:cNvSpPr txBox="1"/>
          <p:nvPr/>
        </p:nvSpPr>
        <p:spPr>
          <a:xfrm>
            <a:off x="5440680" y="2057400"/>
            <a:ext cx="3108960" cy="594360"/>
          </a:xfrm>
          <a:prstGeom prst="rect">
            <a:avLst/>
          </a:prstGeom>
          <a:noFill/>
          <a:ln/>
        </p:spPr>
        <p:txBody>
          <a:bodyPr wrap="square" lIns="0" tIns="0" rIns="0" bIns="0" rtlCol="0" anchor="t"/>
          <a:lstStyle/>
          <a:p>
            <a:pPr indent="0" marL="0">
              <a:buNone/>
            </a:pPr>
            <a:r>
              <a:rPr lang="en-US" sz="1300" dirty="0">
                <a:solidFill>
                  <a:schemeClr val="tx1"/>
                </a:solidFill>
              </a:rPr>
              <a:t>Classification. Target: bill above the median of $9,386.</a:t>
            </a:r>
            <a:endParaRPr lang="en-US" sz="1300" dirty="0"/>
          </a:p>
        </p:txBody>
      </p:sp>
      <p:sp>
        <p:nvSpPr>
          <p:cNvPr id="12" name="Stat 1"/>
          <p:cNvSpPr txBox="1"/>
          <p:nvPr/>
        </p:nvSpPr>
        <p:spPr>
          <a:xfrm>
            <a:off x="457200" y="3063240"/>
            <a:ext cx="2615184" cy="8686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1,337</a:t>
            </a:r>
            <a:endParaRPr lang="en-US" sz="5000" dirty="0"/>
          </a:p>
        </p:txBody>
      </p:sp>
      <p:sp>
        <p:nvSpPr>
          <p:cNvPr id="13" name="Stat label 1"/>
          <p:cNvSpPr txBox="1"/>
          <p:nvPr/>
        </p:nvSpPr>
        <p:spPr>
          <a:xfrm>
            <a:off x="457200" y="3931920"/>
            <a:ext cx="2615184" cy="320040"/>
          </a:xfrm>
          <a:prstGeom prst="rect">
            <a:avLst/>
          </a:prstGeom>
          <a:noFill/>
          <a:ln/>
        </p:spPr>
        <p:txBody>
          <a:bodyPr wrap="square" lIns="0" tIns="0" rIns="0" bIns="0" rtlCol="0" anchor="t"/>
          <a:lstStyle/>
          <a:p>
            <a:pPr indent="0" marL="0">
              <a:buNone/>
            </a:pPr>
            <a:r>
              <a:rPr lang="en-US" sz="1400" dirty="0">
                <a:solidFill>
                  <a:schemeClr val="accent5"/>
                </a:solidFill>
              </a:rPr>
              <a:t>insurance customers</a:t>
            </a:r>
            <a:endParaRPr lang="en-US" sz="1400" dirty="0"/>
          </a:p>
        </p:txBody>
      </p:sp>
      <p:sp>
        <p:nvSpPr>
          <p:cNvPr id="14" name="Stat 2"/>
          <p:cNvSpPr txBox="1"/>
          <p:nvPr/>
        </p:nvSpPr>
        <p:spPr>
          <a:xfrm>
            <a:off x="3264408" y="3063240"/>
            <a:ext cx="2615184" cy="8686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$9,386</a:t>
            </a:r>
            <a:endParaRPr lang="en-US" sz="5000" dirty="0"/>
          </a:p>
        </p:txBody>
      </p:sp>
      <p:sp>
        <p:nvSpPr>
          <p:cNvPr id="15" name="Stat label 2"/>
          <p:cNvSpPr txBox="1"/>
          <p:nvPr/>
        </p:nvSpPr>
        <p:spPr>
          <a:xfrm>
            <a:off x="3264408" y="3931920"/>
            <a:ext cx="2615184" cy="320040"/>
          </a:xfrm>
          <a:prstGeom prst="rect">
            <a:avLst/>
          </a:prstGeom>
          <a:noFill/>
          <a:ln/>
        </p:spPr>
        <p:txBody>
          <a:bodyPr wrap="square" lIns="0" tIns="0" rIns="0" bIns="0" rtlCol="0" anchor="t"/>
          <a:lstStyle/>
          <a:p>
            <a:pPr indent="0" marL="0">
              <a:buNone/>
            </a:pPr>
            <a:r>
              <a:rPr lang="en-US" sz="1400" dirty="0">
                <a:solidFill>
                  <a:schemeClr val="accent5"/>
                </a:solidFill>
              </a:rPr>
              <a:t>median yearly bill</a:t>
            </a:r>
            <a:endParaRPr lang="en-US" sz="1400" dirty="0"/>
          </a:p>
        </p:txBody>
      </p:sp>
      <p:sp>
        <p:nvSpPr>
          <p:cNvPr id="16" name="Stat 3"/>
          <p:cNvSpPr txBox="1"/>
          <p:nvPr/>
        </p:nvSpPr>
        <p:spPr>
          <a:xfrm>
            <a:off x="6071616" y="3063240"/>
            <a:ext cx="2615184" cy="868680"/>
          </a:xfrm>
          <a:prstGeom prst="rect">
            <a:avLst/>
          </a:prstGeom>
          <a:noFill/>
          <a:ln/>
        </p:spPr>
        <p:txBody>
          <a:bodyPr wrap="square" lIns="0" tIns="0" rIns="0" bIns="0" rtlCol="0" anchor="ctr"/>
          <a:lstStyle/>
          <a:p>
            <a:pPr indent="0" marL="0">
              <a:buNone/>
            </a:pPr>
            <a:r>
              <a:rPr lang="en-US" sz="5000" b="1" dirty="0">
                <a:solidFill>
                  <a:schemeClr val="accent1"/>
                </a:solidFill>
                <a:latin typeface="Cambria" pitchFamily="34" charset="0"/>
                <a:ea typeface="Cambria" pitchFamily="34" charset="-122"/>
                <a:cs typeface="Cambria" pitchFamily="34" charset="-120"/>
              </a:rPr>
              <a:t>3.8x</a:t>
            </a:r>
            <a:endParaRPr lang="en-US" sz="5000" dirty="0"/>
          </a:p>
        </p:txBody>
      </p:sp>
      <p:sp>
        <p:nvSpPr>
          <p:cNvPr id="17" name="Stat label 3"/>
          <p:cNvSpPr txBox="1"/>
          <p:nvPr/>
        </p:nvSpPr>
        <p:spPr>
          <a:xfrm>
            <a:off x="6071616" y="3931920"/>
            <a:ext cx="2615184" cy="320040"/>
          </a:xfrm>
          <a:prstGeom prst="rect">
            <a:avLst/>
          </a:prstGeom>
          <a:noFill/>
          <a:ln/>
        </p:spPr>
        <p:txBody>
          <a:bodyPr wrap="square" lIns="0" tIns="0" rIns="0" bIns="0" rtlCol="0" anchor="t"/>
          <a:lstStyle/>
          <a:p>
            <a:pPr indent="0" marL="0">
              <a:buNone/>
            </a:pPr>
            <a:r>
              <a:rPr lang="en-US" sz="1400" dirty="0">
                <a:solidFill>
                  <a:schemeClr val="accent5"/>
                </a:solidFill>
              </a:rPr>
              <a:t>smokers' average bill vs non-smokers'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Smoking and BMI interact: smokers' bills jump at BMI 30</a:t>
            </a:r>
            <a:endParaRPr lang="en-US" sz="2600" dirty="0"/>
          </a:p>
        </p:txBody>
      </p:sp>
      <p:pic>
        <p:nvPicPr>
          <p:cNvPr id="4" name="age chart" descr="Scatter of yearly charges against age, smokers in orange above non-smokers in blue">    </p:cNvPr>
          <p:cNvPicPr>
            <a:picLocks noChangeAspect="1"/>
          </p:cNvPicPr>
          <p:nvPr/>
        </p:nvPicPr>
        <p:blipFill>
          <a:blip r:embed="rId1"/>
          <a:stretch>
            <a:fillRect/>
          </a:stretch>
        </p:blipFill>
        <p:spPr>
          <a:xfrm>
            <a:off x="697881" y="1234440"/>
            <a:ext cx="3084798" cy="3154680"/>
          </a:xfrm>
          <a:prstGeom prst="rect">
            <a:avLst/>
          </a:prstGeom>
        </p:spPr>
      </p:pic>
      <p:pic>
        <p:nvPicPr>
          <p:cNvPr id="5" name="bmi chart" descr="Scatter of yearly charges against BMI; smokers' charges jump at BMI 30">    </p:cNvPr>
          <p:cNvPicPr>
            <a:picLocks noChangeAspect="1"/>
          </p:cNvPicPr>
          <p:nvPr/>
        </p:nvPicPr>
        <p:blipFill>
          <a:blip r:embed="rId2"/>
          <a:stretch>
            <a:fillRect/>
          </a:stretch>
        </p:blipFill>
        <p:spPr>
          <a:xfrm>
            <a:off x="4355481" y="1234440"/>
            <a:ext cx="3084798" cy="3154680"/>
          </a:xfrm>
          <a:prstGeom prst="rect">
            <a:avLst/>
          </a:prstGeom>
        </p:spPr>
      </p:pic>
      <p:sp>
        <p:nvSpPr>
          <p:cNvPr id="6" name="Inputs heading"/>
          <p:cNvSpPr txBox="1"/>
          <p:nvPr/>
        </p:nvSpPr>
        <p:spPr>
          <a:xfrm>
            <a:off x="7772400" y="1371600"/>
            <a:ext cx="914400" cy="274320"/>
          </a:xfrm>
          <a:prstGeom prst="rect">
            <a:avLst/>
          </a:prstGeom>
          <a:noFill/>
          <a:ln/>
        </p:spPr>
        <p:txBody>
          <a:bodyPr wrap="square" lIns="0" tIns="0" rIns="0" bIns="0" rtlCol="0" anchor="t"/>
          <a:lstStyle/>
          <a:p>
            <a:pPr indent="0" marL="0">
              <a:buNone/>
            </a:pPr>
            <a:r>
              <a:rPr lang="en-US" sz="1300" b="1" dirty="0">
                <a:solidFill>
                  <a:schemeClr val="tx2"/>
                </a:solidFill>
              </a:rPr>
              <a:t>Six inputs</a:t>
            </a:r>
            <a:endParaRPr lang="en-US" sz="1300" dirty="0"/>
          </a:p>
        </p:txBody>
      </p:sp>
      <p:sp>
        <p:nvSpPr>
          <p:cNvPr id="7" name="Inputs list"/>
          <p:cNvSpPr txBox="1"/>
          <p:nvPr/>
        </p:nvSpPr>
        <p:spPr>
          <a:xfrm>
            <a:off x="7772400" y="1691640"/>
            <a:ext cx="914400" cy="1645920"/>
          </a:xfrm>
          <a:prstGeom prst="rect">
            <a:avLst/>
          </a:prstGeom>
          <a:noFill/>
          <a:ln/>
        </p:spPr>
        <p:txBody>
          <a:bodyPr wrap="square" lIns="0" tIns="0" rIns="0" bIns="0" rtlCol="0" anchor="t"/>
          <a:lstStyle/>
          <a:p>
            <a:pPr indent="0" marL="0">
              <a:spcAft>
                <a:spcPts val="300"/>
              </a:spcAft>
              <a:buNone/>
            </a:pPr>
            <a:r>
              <a:rPr lang="en-US" sz="1200" dirty="0">
                <a:solidFill>
                  <a:schemeClr val="tx1"/>
                </a:solidFill>
              </a:rPr>
              <a:t>age</a:t>
            </a:r>
            <a:endParaRPr lang="en-US" sz="1200" dirty="0"/>
          </a:p>
          <a:p>
            <a:pPr indent="0" marL="0">
              <a:spcAft>
                <a:spcPts val="300"/>
              </a:spcAft>
              <a:buNone/>
            </a:pPr>
            <a:r>
              <a:rPr lang="en-US" sz="1200" dirty="0">
                <a:solidFill>
                  <a:schemeClr val="tx1"/>
                </a:solidFill>
              </a:rPr>
              <a:t>sex</a:t>
            </a:r>
            <a:endParaRPr lang="en-US" sz="1200" dirty="0"/>
          </a:p>
          <a:p>
            <a:pPr indent="0" marL="0">
              <a:spcAft>
                <a:spcPts val="300"/>
              </a:spcAft>
              <a:buNone/>
            </a:pPr>
            <a:r>
              <a:rPr lang="en-US" sz="1200" dirty="0">
                <a:solidFill>
                  <a:schemeClr val="tx1"/>
                </a:solidFill>
              </a:rPr>
              <a:t>BMI</a:t>
            </a:r>
            <a:endParaRPr lang="en-US" sz="1200" dirty="0"/>
          </a:p>
          <a:p>
            <a:pPr indent="0" marL="0">
              <a:spcAft>
                <a:spcPts val="300"/>
              </a:spcAft>
              <a:buNone/>
            </a:pPr>
            <a:r>
              <a:rPr lang="en-US" sz="1200" dirty="0">
                <a:solidFill>
                  <a:schemeClr val="tx1"/>
                </a:solidFill>
              </a:rPr>
              <a:t>children</a:t>
            </a:r>
            <a:endParaRPr lang="en-US" sz="1200" dirty="0"/>
          </a:p>
          <a:p>
            <a:pPr indent="0" marL="0">
              <a:spcAft>
                <a:spcPts val="300"/>
              </a:spcAft>
              <a:buNone/>
            </a:pPr>
            <a:r>
              <a:rPr lang="en-US" sz="1200" dirty="0">
                <a:solidFill>
                  <a:schemeClr val="tx1"/>
                </a:solidFill>
              </a:rPr>
              <a:t>smoker</a:t>
            </a:r>
            <a:endParaRPr lang="en-US" sz="1200" dirty="0"/>
          </a:p>
          <a:p>
            <a:pPr indent="0" marL="0">
              <a:spcAft>
                <a:spcPts val="300"/>
              </a:spcAft>
              <a:buNone/>
            </a:pPr>
            <a:r>
              <a:rPr lang="en-US" sz="1200" dirty="0">
                <a:solidFill>
                  <a:schemeClr val="tx1"/>
                </a:solidFill>
              </a:rPr>
              <a:t>region</a:t>
            </a:r>
            <a:endParaRPr lang="en-US" sz="1200" dirty="0"/>
          </a:p>
        </p:txBody>
      </p:sp>
      <p:sp>
        <p:nvSpPr>
          <p:cNvPr id="8" name="Data caption"/>
          <p:cNvSpPr txBox="1"/>
          <p:nvPr/>
        </p:nvSpPr>
        <p:spPr>
          <a:xfrm>
            <a:off x="457200" y="4407408"/>
            <a:ext cx="7315200" cy="256032"/>
          </a:xfrm>
          <a:prstGeom prst="rect">
            <a:avLst/>
          </a:prstGeom>
          <a:noFill/>
          <a:ln/>
        </p:spPr>
        <p:txBody>
          <a:bodyPr wrap="square" lIns="0" tIns="0" rIns="0" bIns="0" rtlCol="0" anchor="t"/>
          <a:lstStyle/>
          <a:p>
            <a:pPr indent="0" marL="0">
              <a:buNone/>
            </a:pPr>
            <a:r>
              <a:rPr lang="en-US" sz="1100" dirty="0">
                <a:solidFill>
                  <a:schemeClr val="accent5"/>
                </a:solidFill>
              </a:rPr>
              <a:t>Blue: non-smoker. Orange: smoker. Screenshots from page 1 of the app.</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Seven app pages cover every Unit 2 topic</a:t>
            </a:r>
            <a:endParaRPr lang="en-US" sz="2600" dirty="0"/>
          </a:p>
        </p:txBody>
      </p:sp>
      <p:sp>
        <p:nvSpPr>
          <p:cNvPr id="4" name="Page card 1"/>
          <p:cNvSpPr/>
          <p:nvPr/>
        </p:nvSpPr>
        <p:spPr>
          <a:xfrm>
            <a:off x="457200" y="1325880"/>
            <a:ext cx="1920240" cy="1325880"/>
          </a:xfrm>
          <a:prstGeom prst="roundRect">
            <a:avLst>
              <a:gd name="adj" fmla="val 5517"/>
            </a:avLst>
          </a:prstGeom>
          <a:solidFill>
            <a:schemeClr val="bg2"/>
          </a:solidFill>
          <a:ln w="12700">
            <a:solidFill>
              <a:schemeClr val="bg2"/>
            </a:solidFill>
            <a:prstDash val="solid"/>
          </a:ln>
        </p:spPr>
      </p:sp>
      <p:sp>
        <p:nvSpPr>
          <p:cNvPr id="5" name="Page badge 1"/>
          <p:cNvSpPr txBox="1"/>
          <p:nvPr/>
        </p:nvSpPr>
        <p:spPr>
          <a:xfrm>
            <a:off x="621792" y="1490472"/>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Page name 1"/>
          <p:cNvSpPr txBox="1"/>
          <p:nvPr/>
        </p:nvSpPr>
        <p:spPr>
          <a:xfrm>
            <a:off x="1115568" y="1453896"/>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Data</a:t>
            </a:r>
            <a:endParaRPr lang="en-US" sz="1350" dirty="0"/>
          </a:p>
        </p:txBody>
      </p:sp>
      <p:sp>
        <p:nvSpPr>
          <p:cNvPr id="7" name="Page topic 1"/>
          <p:cNvSpPr txBox="1"/>
          <p:nvPr/>
        </p:nvSpPr>
        <p:spPr>
          <a:xfrm>
            <a:off x="621792" y="2075688"/>
            <a:ext cx="1609344" cy="457200"/>
          </a:xfrm>
          <a:prstGeom prst="rect">
            <a:avLst/>
          </a:prstGeom>
          <a:noFill/>
          <a:ln/>
        </p:spPr>
        <p:txBody>
          <a:bodyPr wrap="square" lIns="0" tIns="0" rIns="0" bIns="0" rtlCol="0" anchor="t"/>
          <a:lstStyle/>
          <a:p>
            <a:pPr indent="0" marL="0">
              <a:buNone/>
            </a:pPr>
            <a:r>
              <a:rPr lang="en-US" sz="1200" dirty="0">
                <a:solidFill>
                  <a:schemeClr val="tx1"/>
                </a:solidFill>
              </a:rPr>
              <a:t>Explore the dataset</a:t>
            </a:r>
            <a:endParaRPr lang="en-US" sz="1200" dirty="0"/>
          </a:p>
        </p:txBody>
      </p:sp>
      <p:sp>
        <p:nvSpPr>
          <p:cNvPr id="8" name="Page card 2"/>
          <p:cNvSpPr/>
          <p:nvPr/>
        </p:nvSpPr>
        <p:spPr>
          <a:xfrm>
            <a:off x="2560320" y="1325880"/>
            <a:ext cx="1920240" cy="1325880"/>
          </a:xfrm>
          <a:prstGeom prst="roundRect">
            <a:avLst>
              <a:gd name="adj" fmla="val 5517"/>
            </a:avLst>
          </a:prstGeom>
          <a:solidFill>
            <a:schemeClr val="bg2"/>
          </a:solidFill>
          <a:ln w="12700">
            <a:solidFill>
              <a:schemeClr val="bg2"/>
            </a:solidFill>
            <a:prstDash val="solid"/>
          </a:ln>
        </p:spPr>
      </p:sp>
      <p:sp>
        <p:nvSpPr>
          <p:cNvPr id="9" name="Page badge 2"/>
          <p:cNvSpPr txBox="1"/>
          <p:nvPr/>
        </p:nvSpPr>
        <p:spPr>
          <a:xfrm>
            <a:off x="2724912" y="1490472"/>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Page name 2"/>
          <p:cNvSpPr txBox="1"/>
          <p:nvPr/>
        </p:nvSpPr>
        <p:spPr>
          <a:xfrm>
            <a:off x="3218688" y="1453896"/>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Least squares and MLE</a:t>
            </a:r>
            <a:endParaRPr lang="en-US" sz="1350" dirty="0"/>
          </a:p>
        </p:txBody>
      </p:sp>
      <p:sp>
        <p:nvSpPr>
          <p:cNvPr id="11" name="Page topic 2"/>
          <p:cNvSpPr txBox="1"/>
          <p:nvPr/>
        </p:nvSpPr>
        <p:spPr>
          <a:xfrm>
            <a:off x="2724912" y="2075688"/>
            <a:ext cx="1609344" cy="457200"/>
          </a:xfrm>
          <a:prstGeom prst="rect">
            <a:avLst/>
          </a:prstGeom>
          <a:noFill/>
          <a:ln/>
        </p:spPr>
        <p:txBody>
          <a:bodyPr wrap="square" lIns="0" tIns="0" rIns="0" bIns="0" rtlCol="0" anchor="t"/>
          <a:lstStyle/>
          <a:p>
            <a:pPr indent="0" marL="0">
              <a:buNone/>
            </a:pPr>
            <a:r>
              <a:rPr lang="en-US" sz="1200" dirty="0">
                <a:solidFill>
                  <a:schemeClr val="tx1"/>
                </a:solidFill>
              </a:rPr>
              <a:t>Hour 10</a:t>
            </a:r>
            <a:endParaRPr lang="en-US" sz="1200" dirty="0"/>
          </a:p>
        </p:txBody>
      </p:sp>
      <p:sp>
        <p:nvSpPr>
          <p:cNvPr id="12" name="Page card 3"/>
          <p:cNvSpPr/>
          <p:nvPr/>
        </p:nvSpPr>
        <p:spPr>
          <a:xfrm>
            <a:off x="4663440" y="1325880"/>
            <a:ext cx="1920240" cy="1325880"/>
          </a:xfrm>
          <a:prstGeom prst="roundRect">
            <a:avLst>
              <a:gd name="adj" fmla="val 5517"/>
            </a:avLst>
          </a:prstGeom>
          <a:solidFill>
            <a:schemeClr val="bg2"/>
          </a:solidFill>
          <a:ln w="12700">
            <a:solidFill>
              <a:schemeClr val="bg2"/>
            </a:solidFill>
            <a:prstDash val="solid"/>
          </a:ln>
        </p:spPr>
      </p:sp>
      <p:sp>
        <p:nvSpPr>
          <p:cNvPr id="13" name="Page badge 3"/>
          <p:cNvSpPr txBox="1"/>
          <p:nvPr/>
        </p:nvSpPr>
        <p:spPr>
          <a:xfrm>
            <a:off x="4828032" y="1490472"/>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Page name 3"/>
          <p:cNvSpPr txBox="1"/>
          <p:nvPr/>
        </p:nvSpPr>
        <p:spPr>
          <a:xfrm>
            <a:off x="5321808" y="1453896"/>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Robust, ridge, Bayesian</a:t>
            </a:r>
            <a:endParaRPr lang="en-US" sz="1350" dirty="0"/>
          </a:p>
        </p:txBody>
      </p:sp>
      <p:sp>
        <p:nvSpPr>
          <p:cNvPr id="15" name="Page topic 3"/>
          <p:cNvSpPr txBox="1"/>
          <p:nvPr/>
        </p:nvSpPr>
        <p:spPr>
          <a:xfrm>
            <a:off x="4828032" y="2075688"/>
            <a:ext cx="1609344" cy="457200"/>
          </a:xfrm>
          <a:prstGeom prst="rect">
            <a:avLst/>
          </a:prstGeom>
          <a:noFill/>
          <a:ln/>
        </p:spPr>
        <p:txBody>
          <a:bodyPr wrap="square" lIns="0" tIns="0" rIns="0" bIns="0" rtlCol="0" anchor="t"/>
          <a:lstStyle/>
          <a:p>
            <a:pPr indent="0" marL="0">
              <a:buNone/>
            </a:pPr>
            <a:r>
              <a:rPr lang="en-US" sz="1200" dirty="0">
                <a:solidFill>
                  <a:schemeClr val="tx1"/>
                </a:solidFill>
              </a:rPr>
              <a:t>Hour 11</a:t>
            </a:r>
            <a:endParaRPr lang="en-US" sz="1200" dirty="0"/>
          </a:p>
        </p:txBody>
      </p:sp>
      <p:sp>
        <p:nvSpPr>
          <p:cNvPr id="16" name="Page card 4"/>
          <p:cNvSpPr/>
          <p:nvPr/>
        </p:nvSpPr>
        <p:spPr>
          <a:xfrm>
            <a:off x="6766560" y="1325880"/>
            <a:ext cx="1920240" cy="1325880"/>
          </a:xfrm>
          <a:prstGeom prst="roundRect">
            <a:avLst>
              <a:gd name="adj" fmla="val 5517"/>
            </a:avLst>
          </a:prstGeom>
          <a:solidFill>
            <a:schemeClr val="bg2"/>
          </a:solidFill>
          <a:ln w="12700">
            <a:solidFill>
              <a:schemeClr val="bg2"/>
            </a:solidFill>
            <a:prstDash val="solid"/>
          </a:ln>
        </p:spPr>
      </p:sp>
      <p:sp>
        <p:nvSpPr>
          <p:cNvPr id="17" name="Page badge 4"/>
          <p:cNvSpPr txBox="1"/>
          <p:nvPr/>
        </p:nvSpPr>
        <p:spPr>
          <a:xfrm>
            <a:off x="6931152" y="1490472"/>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Page name 4"/>
          <p:cNvSpPr txBox="1"/>
          <p:nvPr/>
        </p:nvSpPr>
        <p:spPr>
          <a:xfrm>
            <a:off x="7424928" y="1453896"/>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Classifiers</a:t>
            </a:r>
            <a:endParaRPr lang="en-US" sz="1350" dirty="0"/>
          </a:p>
        </p:txBody>
      </p:sp>
      <p:sp>
        <p:nvSpPr>
          <p:cNvPr id="19" name="Page topic 4"/>
          <p:cNvSpPr txBox="1"/>
          <p:nvPr/>
        </p:nvSpPr>
        <p:spPr>
          <a:xfrm>
            <a:off x="6931152" y="2075688"/>
            <a:ext cx="1609344" cy="457200"/>
          </a:xfrm>
          <a:prstGeom prst="rect">
            <a:avLst/>
          </a:prstGeom>
          <a:noFill/>
          <a:ln/>
        </p:spPr>
        <p:txBody>
          <a:bodyPr wrap="square" lIns="0" tIns="0" rIns="0" bIns="0" rtlCol="0" anchor="t"/>
          <a:lstStyle/>
          <a:p>
            <a:pPr indent="0" marL="0">
              <a:buNone/>
            </a:pPr>
            <a:r>
              <a:rPr lang="en-US" sz="1200" dirty="0">
                <a:solidFill>
                  <a:schemeClr val="tx1"/>
                </a:solidFill>
              </a:rPr>
              <a:t>Hours 12, 13, 16</a:t>
            </a:r>
            <a:endParaRPr lang="en-US" sz="1200" dirty="0"/>
          </a:p>
        </p:txBody>
      </p:sp>
      <p:sp>
        <p:nvSpPr>
          <p:cNvPr id="20" name="Page card 5"/>
          <p:cNvSpPr/>
          <p:nvPr/>
        </p:nvSpPr>
        <p:spPr>
          <a:xfrm>
            <a:off x="457200" y="2807208"/>
            <a:ext cx="1920240" cy="1325880"/>
          </a:xfrm>
          <a:prstGeom prst="roundRect">
            <a:avLst>
              <a:gd name="adj" fmla="val 5517"/>
            </a:avLst>
          </a:prstGeom>
          <a:solidFill>
            <a:schemeClr val="bg2"/>
          </a:solidFill>
          <a:ln w="12700">
            <a:solidFill>
              <a:schemeClr val="bg2"/>
            </a:solidFill>
            <a:prstDash val="solid"/>
          </a:ln>
        </p:spPr>
      </p:sp>
      <p:sp>
        <p:nvSpPr>
          <p:cNvPr id="21" name="Page badge 5"/>
          <p:cNvSpPr txBox="1"/>
          <p:nvPr/>
        </p:nvSpPr>
        <p:spPr>
          <a:xfrm>
            <a:off x="621792" y="2971800"/>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Page name 5"/>
          <p:cNvSpPr txBox="1"/>
          <p:nvPr/>
        </p:nvSpPr>
        <p:spPr>
          <a:xfrm>
            <a:off x="1115568" y="2935224"/>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Laplace approximation</a:t>
            </a:r>
            <a:endParaRPr lang="en-US" sz="1350" dirty="0"/>
          </a:p>
        </p:txBody>
      </p:sp>
      <p:sp>
        <p:nvSpPr>
          <p:cNvPr id="23" name="Page topic 5"/>
          <p:cNvSpPr txBox="1"/>
          <p:nvPr/>
        </p:nvSpPr>
        <p:spPr>
          <a:xfrm>
            <a:off x="621792" y="3557016"/>
            <a:ext cx="1609344" cy="457200"/>
          </a:xfrm>
          <a:prstGeom prst="rect">
            <a:avLst/>
          </a:prstGeom>
          <a:noFill/>
          <a:ln/>
        </p:spPr>
        <p:txBody>
          <a:bodyPr wrap="square" lIns="0" tIns="0" rIns="0" bIns="0" rtlCol="0" anchor="t"/>
          <a:lstStyle/>
          <a:p>
            <a:pPr indent="0" marL="0">
              <a:buNone/>
            </a:pPr>
            <a:r>
              <a:rPr lang="en-US" sz="1200" dirty="0">
                <a:solidFill>
                  <a:schemeClr val="tx1"/>
                </a:solidFill>
              </a:rPr>
              <a:t>Hour 14</a:t>
            </a:r>
            <a:endParaRPr lang="en-US" sz="1200" dirty="0"/>
          </a:p>
        </p:txBody>
      </p:sp>
      <p:sp>
        <p:nvSpPr>
          <p:cNvPr id="24" name="Page card 6"/>
          <p:cNvSpPr/>
          <p:nvPr/>
        </p:nvSpPr>
        <p:spPr>
          <a:xfrm>
            <a:off x="2560320" y="2807208"/>
            <a:ext cx="1920240" cy="1325880"/>
          </a:xfrm>
          <a:prstGeom prst="roundRect">
            <a:avLst>
              <a:gd name="adj" fmla="val 5517"/>
            </a:avLst>
          </a:prstGeom>
          <a:solidFill>
            <a:schemeClr val="bg2"/>
          </a:solidFill>
          <a:ln w="12700">
            <a:solidFill>
              <a:schemeClr val="bg2"/>
            </a:solidFill>
            <a:prstDash val="solid"/>
          </a:ln>
        </p:spPr>
      </p:sp>
      <p:sp>
        <p:nvSpPr>
          <p:cNvPr id="25" name="Page badge 6"/>
          <p:cNvSpPr txBox="1"/>
          <p:nvPr/>
        </p:nvSpPr>
        <p:spPr>
          <a:xfrm>
            <a:off x="2724912" y="2971800"/>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6" name="Page name 6"/>
          <p:cNvSpPr txBox="1"/>
          <p:nvPr/>
        </p:nvSpPr>
        <p:spPr>
          <a:xfrm>
            <a:off x="3218688" y="2935224"/>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Kernels and SVM</a:t>
            </a:r>
            <a:endParaRPr lang="en-US" sz="1350" dirty="0"/>
          </a:p>
        </p:txBody>
      </p:sp>
      <p:sp>
        <p:nvSpPr>
          <p:cNvPr id="27" name="Page topic 6"/>
          <p:cNvSpPr txBox="1"/>
          <p:nvPr/>
        </p:nvSpPr>
        <p:spPr>
          <a:xfrm>
            <a:off x="2724912" y="3557016"/>
            <a:ext cx="1609344" cy="457200"/>
          </a:xfrm>
          <a:prstGeom prst="rect">
            <a:avLst/>
          </a:prstGeom>
          <a:noFill/>
          <a:ln/>
        </p:spPr>
        <p:txBody>
          <a:bodyPr wrap="square" lIns="0" tIns="0" rIns="0" bIns="0" rtlCol="0" anchor="t"/>
          <a:lstStyle/>
          <a:p>
            <a:pPr indent="0" marL="0">
              <a:buNone/>
            </a:pPr>
            <a:r>
              <a:rPr lang="en-US" sz="1200" dirty="0">
                <a:solidFill>
                  <a:schemeClr val="tx1"/>
                </a:solidFill>
              </a:rPr>
              <a:t>Hours 15, 16</a:t>
            </a:r>
            <a:endParaRPr lang="en-US" sz="1200" dirty="0"/>
          </a:p>
        </p:txBody>
      </p:sp>
      <p:sp>
        <p:nvSpPr>
          <p:cNvPr id="28" name="Page card 7"/>
          <p:cNvSpPr/>
          <p:nvPr/>
        </p:nvSpPr>
        <p:spPr>
          <a:xfrm>
            <a:off x="4663440" y="2807208"/>
            <a:ext cx="1920240" cy="1325880"/>
          </a:xfrm>
          <a:prstGeom prst="roundRect">
            <a:avLst>
              <a:gd name="adj" fmla="val 5517"/>
            </a:avLst>
          </a:prstGeom>
          <a:solidFill>
            <a:schemeClr val="bg2"/>
          </a:solidFill>
          <a:ln w="12700">
            <a:solidFill>
              <a:schemeClr val="bg2"/>
            </a:solidFill>
            <a:prstDash val="solid"/>
          </a:ln>
        </p:spPr>
      </p:sp>
      <p:sp>
        <p:nvSpPr>
          <p:cNvPr id="29" name="Page badge 7"/>
          <p:cNvSpPr txBox="1"/>
          <p:nvPr/>
        </p:nvSpPr>
        <p:spPr>
          <a:xfrm>
            <a:off x="4828032" y="2971800"/>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30" name="Page name 7"/>
          <p:cNvSpPr txBox="1"/>
          <p:nvPr/>
        </p:nvSpPr>
        <p:spPr>
          <a:xfrm>
            <a:off x="5321808" y="2935224"/>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Cost predictor</a:t>
            </a:r>
            <a:endParaRPr lang="en-US" sz="1350" dirty="0"/>
          </a:p>
        </p:txBody>
      </p:sp>
      <p:sp>
        <p:nvSpPr>
          <p:cNvPr id="31" name="Page topic 7"/>
          <p:cNvSpPr txBox="1"/>
          <p:nvPr/>
        </p:nvSpPr>
        <p:spPr>
          <a:xfrm>
            <a:off x="4828032" y="3557016"/>
            <a:ext cx="1609344" cy="457200"/>
          </a:xfrm>
          <a:prstGeom prst="rect">
            <a:avLst/>
          </a:prstGeom>
          <a:noFill/>
          <a:ln/>
        </p:spPr>
        <p:txBody>
          <a:bodyPr wrap="square" lIns="0" tIns="0" rIns="0" bIns="0" rtlCol="0" anchor="t"/>
          <a:lstStyle/>
          <a:p>
            <a:pPr indent="0" marL="0">
              <a:buNone/>
            </a:pPr>
            <a:r>
              <a:rPr lang="en-US" sz="1200" dirty="0">
                <a:solidFill>
                  <a:schemeClr val="tx1"/>
                </a:solidFill>
              </a:rPr>
              <a:t>Hour 17 practice</a:t>
            </a:r>
            <a:endParaRPr lang="en-US" sz="1200" dirty="0"/>
          </a:p>
        </p:txBody>
      </p:sp>
      <p:sp>
        <p:nvSpPr>
          <p:cNvPr id="32" name="Page card +"/>
          <p:cNvSpPr/>
          <p:nvPr/>
        </p:nvSpPr>
        <p:spPr>
          <a:xfrm>
            <a:off x="6766560" y="2807208"/>
            <a:ext cx="1920240" cy="1325880"/>
          </a:xfrm>
          <a:prstGeom prst="roundRect">
            <a:avLst>
              <a:gd name="adj" fmla="val 5517"/>
            </a:avLst>
          </a:prstGeom>
          <a:solidFill>
            <a:schemeClr val="bg2"/>
          </a:solidFill>
          <a:ln w="12700">
            <a:solidFill>
              <a:schemeClr val="bg2"/>
            </a:solidFill>
            <a:prstDash val="solid"/>
          </a:ln>
        </p:spPr>
      </p:sp>
      <p:sp>
        <p:nvSpPr>
          <p:cNvPr id="33" name="Page badge +"/>
          <p:cNvSpPr txBox="1"/>
          <p:nvPr/>
        </p:nvSpPr>
        <p:spPr>
          <a:xfrm>
            <a:off x="6931152" y="2971800"/>
            <a:ext cx="384048" cy="384048"/>
          </a:xfrm>
          <a:prstGeom prst="ellipse">
            <a:avLst/>
          </a:prstGeom>
          <a:solidFill>
            <a:srgbClr val="E4572E"/>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4" name="Page name +"/>
          <p:cNvSpPr txBox="1"/>
          <p:nvPr/>
        </p:nvSpPr>
        <p:spPr>
          <a:xfrm>
            <a:off x="7424928" y="2935224"/>
            <a:ext cx="1188720" cy="457200"/>
          </a:xfrm>
          <a:prstGeom prst="rect">
            <a:avLst/>
          </a:prstGeom>
          <a:noFill/>
          <a:ln/>
        </p:spPr>
        <p:txBody>
          <a:bodyPr wrap="square" lIns="0" tIns="0" rIns="0" bIns="0" rtlCol="0" anchor="ctr"/>
          <a:lstStyle/>
          <a:p>
            <a:pPr indent="0" marL="0">
              <a:buNone/>
            </a:pPr>
            <a:r>
              <a:rPr lang="en-US" sz="1350" b="1" dirty="0">
                <a:solidFill>
                  <a:schemeClr val="tx2"/>
                </a:solidFill>
              </a:rPr>
              <a:t>Infographic</a:t>
            </a:r>
            <a:endParaRPr lang="en-US" sz="1350" dirty="0"/>
          </a:p>
        </p:txBody>
      </p:sp>
      <p:sp>
        <p:nvSpPr>
          <p:cNvPr id="35" name="Page topic +"/>
          <p:cNvSpPr txBox="1"/>
          <p:nvPr/>
        </p:nvSpPr>
        <p:spPr>
          <a:xfrm>
            <a:off x="6931152" y="3557016"/>
            <a:ext cx="1609344" cy="457200"/>
          </a:xfrm>
          <a:prstGeom prst="rect">
            <a:avLst/>
          </a:prstGeom>
          <a:noFill/>
          <a:ln/>
        </p:spPr>
        <p:txBody>
          <a:bodyPr wrap="square" lIns="0" tIns="0" rIns="0" bIns="0" rtlCol="0" anchor="t"/>
          <a:lstStyle/>
          <a:p>
            <a:pPr indent="0" marL="0">
              <a:buNone/>
            </a:pPr>
            <a:r>
              <a:rPr lang="en-US" sz="1200" dirty="0">
                <a:solidFill>
                  <a:schemeClr val="tx1"/>
                </a:solidFill>
              </a:rPr>
              <a:t>Hour 18</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The likelihood is highest exactly at the least squares slope</a:t>
            </a:r>
            <a:endParaRPr lang="en-US" sz="2600" dirty="0"/>
          </a:p>
        </p:txBody>
      </p:sp>
      <p:pic>
        <p:nvPicPr>
          <p:cNvPr id="4" name="mle_line chart" descr="Non-smokers' charges against age with a candidate line of slope 120">    </p:cNvPr>
          <p:cNvPicPr>
            <a:picLocks noChangeAspect="1"/>
          </p:cNvPicPr>
          <p:nvPr/>
        </p:nvPicPr>
        <p:blipFill>
          <a:blip r:embed="rId1"/>
          <a:stretch>
            <a:fillRect/>
          </a:stretch>
        </p:blipFill>
        <p:spPr>
          <a:xfrm>
            <a:off x="457200" y="1258706"/>
            <a:ext cx="3108960" cy="2877549"/>
          </a:xfrm>
          <a:prstGeom prst="rect">
            <a:avLst/>
          </a:prstGeom>
        </p:spPr>
      </p:pic>
      <p:pic>
        <p:nvPicPr>
          <p:cNvPr id="5" name="mle_nll chart" descr="Negative log-likelihood against slope, minimum at the least squares slope 267">    </p:cNvPr>
          <p:cNvPicPr>
            <a:picLocks noChangeAspect="1"/>
          </p:cNvPicPr>
          <p:nvPr/>
        </p:nvPicPr>
        <p:blipFill>
          <a:blip r:embed="rId2"/>
          <a:stretch>
            <a:fillRect/>
          </a:stretch>
        </p:blipFill>
        <p:spPr>
          <a:xfrm>
            <a:off x="3611880" y="1258706"/>
            <a:ext cx="3108960" cy="2877549"/>
          </a:xfrm>
          <a:prstGeom prst="rect">
            <a:avLst/>
          </a:prstGeom>
        </p:spPr>
      </p:pic>
      <p:sp>
        <p:nvSpPr>
          <p:cNvPr id="6" name="Slope stat card"/>
          <p:cNvSpPr/>
          <p:nvPr/>
        </p:nvSpPr>
        <p:spPr>
          <a:xfrm>
            <a:off x="6858000" y="1325880"/>
            <a:ext cx="1828800" cy="960120"/>
          </a:xfrm>
          <a:prstGeom prst="roundRect">
            <a:avLst>
              <a:gd name="adj" fmla="val 7619"/>
            </a:avLst>
          </a:prstGeom>
          <a:solidFill>
            <a:schemeClr val="bg2"/>
          </a:solidFill>
          <a:ln w="12700">
            <a:solidFill>
              <a:schemeClr val="bg2"/>
            </a:solidFill>
            <a:prstDash val="solid"/>
          </a:ln>
        </p:spPr>
      </p:sp>
      <p:sp>
        <p:nvSpPr>
          <p:cNvPr id="7" name="Slope stat"/>
          <p:cNvSpPr txBox="1"/>
          <p:nvPr/>
        </p:nvSpPr>
        <p:spPr>
          <a:xfrm>
            <a:off x="7040880" y="1399032"/>
            <a:ext cx="146304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$267</a:t>
            </a:r>
            <a:endParaRPr lang="en-US" sz="2400" dirty="0"/>
          </a:p>
        </p:txBody>
      </p:sp>
      <p:sp>
        <p:nvSpPr>
          <p:cNvPr id="8" name="Slope stat label"/>
          <p:cNvSpPr txBox="1"/>
          <p:nvPr/>
        </p:nvSpPr>
        <p:spPr>
          <a:xfrm>
            <a:off x="7040880" y="1856232"/>
            <a:ext cx="1463040" cy="384048"/>
          </a:xfrm>
          <a:prstGeom prst="rect">
            <a:avLst/>
          </a:prstGeom>
          <a:noFill/>
          <a:ln/>
        </p:spPr>
        <p:txBody>
          <a:bodyPr wrap="square" lIns="0" tIns="0" rIns="0" bIns="0" rtlCol="0" anchor="t"/>
          <a:lstStyle/>
          <a:p>
            <a:pPr indent="0" marL="0">
              <a:buNone/>
            </a:pPr>
            <a:r>
              <a:rPr lang="en-US" sz="1100" dirty="0">
                <a:solidFill>
                  <a:schemeClr val="tx1"/>
                </a:solidFill>
              </a:rPr>
              <a:t>least squares slope per year of age</a:t>
            </a:r>
            <a:endParaRPr lang="en-US" sz="1100" dirty="0"/>
          </a:p>
        </p:txBody>
      </p:sp>
      <p:sp>
        <p:nvSpPr>
          <p:cNvPr id="9" name="OLS R2 stat card"/>
          <p:cNvSpPr/>
          <p:nvPr/>
        </p:nvSpPr>
        <p:spPr>
          <a:xfrm>
            <a:off x="6858000" y="2423160"/>
            <a:ext cx="1828800" cy="960120"/>
          </a:xfrm>
          <a:prstGeom prst="roundRect">
            <a:avLst>
              <a:gd name="adj" fmla="val 7619"/>
            </a:avLst>
          </a:prstGeom>
          <a:solidFill>
            <a:schemeClr val="bg2"/>
          </a:solidFill>
          <a:ln w="12700">
            <a:solidFill>
              <a:schemeClr val="bg2"/>
            </a:solidFill>
            <a:prstDash val="solid"/>
          </a:ln>
        </p:spPr>
      </p:sp>
      <p:sp>
        <p:nvSpPr>
          <p:cNvPr id="10" name="OLS R2 stat"/>
          <p:cNvSpPr txBox="1"/>
          <p:nvPr/>
        </p:nvSpPr>
        <p:spPr>
          <a:xfrm>
            <a:off x="7040880" y="2496312"/>
            <a:ext cx="146304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0.796</a:t>
            </a:r>
            <a:endParaRPr lang="en-US" sz="2400" dirty="0"/>
          </a:p>
        </p:txBody>
      </p:sp>
      <p:sp>
        <p:nvSpPr>
          <p:cNvPr id="11" name="OLS R2 stat label"/>
          <p:cNvSpPr txBox="1"/>
          <p:nvPr/>
        </p:nvSpPr>
        <p:spPr>
          <a:xfrm>
            <a:off x="7040880" y="2953512"/>
            <a:ext cx="1463040" cy="384048"/>
          </a:xfrm>
          <a:prstGeom prst="rect">
            <a:avLst/>
          </a:prstGeom>
          <a:noFill/>
          <a:ln/>
        </p:spPr>
        <p:txBody>
          <a:bodyPr wrap="square" lIns="0" tIns="0" rIns="0" bIns="0" rtlCol="0" anchor="t"/>
          <a:lstStyle/>
          <a:p>
            <a:pPr indent="0" marL="0">
              <a:buNone/>
            </a:pPr>
            <a:r>
              <a:rPr lang="en-US" sz="1100" dirty="0">
                <a:solidFill>
                  <a:schemeClr val="tx1"/>
                </a:solidFill>
              </a:rPr>
              <a:t>test R², all six features</a:t>
            </a:r>
            <a:endParaRPr lang="en-US" sz="1100" dirty="0"/>
          </a:p>
        </p:txBody>
      </p:sp>
      <p:sp>
        <p:nvSpPr>
          <p:cNvPr id="12" name="Smoker weight stat card"/>
          <p:cNvSpPr/>
          <p:nvPr/>
        </p:nvSpPr>
        <p:spPr>
          <a:xfrm>
            <a:off x="6858000" y="3520440"/>
            <a:ext cx="1828800" cy="960120"/>
          </a:xfrm>
          <a:prstGeom prst="roundRect">
            <a:avLst>
              <a:gd name="adj" fmla="val 7619"/>
            </a:avLst>
          </a:prstGeom>
          <a:solidFill>
            <a:schemeClr val="bg2"/>
          </a:solidFill>
          <a:ln w="12700">
            <a:solidFill>
              <a:schemeClr val="bg2"/>
            </a:solidFill>
            <a:prstDash val="solid"/>
          </a:ln>
        </p:spPr>
      </p:sp>
      <p:sp>
        <p:nvSpPr>
          <p:cNvPr id="13" name="Smoker weight stat"/>
          <p:cNvSpPr txBox="1"/>
          <p:nvPr/>
        </p:nvSpPr>
        <p:spPr>
          <a:xfrm>
            <a:off x="7040880" y="3593592"/>
            <a:ext cx="146304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$23,096</a:t>
            </a:r>
            <a:endParaRPr lang="en-US" sz="2400" dirty="0"/>
          </a:p>
        </p:txBody>
      </p:sp>
      <p:sp>
        <p:nvSpPr>
          <p:cNvPr id="14" name="Smoker weight stat label"/>
          <p:cNvSpPr txBox="1"/>
          <p:nvPr/>
        </p:nvSpPr>
        <p:spPr>
          <a:xfrm>
            <a:off x="7040880" y="4050792"/>
            <a:ext cx="1463040" cy="384048"/>
          </a:xfrm>
          <a:prstGeom prst="rect">
            <a:avLst/>
          </a:prstGeom>
          <a:noFill/>
          <a:ln/>
        </p:spPr>
        <p:txBody>
          <a:bodyPr wrap="square" lIns="0" tIns="0" rIns="0" bIns="0" rtlCol="0" anchor="t"/>
          <a:lstStyle/>
          <a:p>
            <a:pPr indent="0" marL="0">
              <a:buNone/>
            </a:pPr>
            <a:r>
              <a:rPr lang="en-US" sz="1100" dirty="0">
                <a:solidFill>
                  <a:schemeClr val="tx1"/>
                </a:solidFill>
              </a:rPr>
              <a:t>weight on smoker: the largest by far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Huber regression barely moves when training bills are corrupted</a:t>
            </a:r>
            <a:endParaRPr lang="en-US" sz="2600" dirty="0"/>
          </a:p>
        </p:txBody>
      </p:sp>
      <p:pic>
        <p:nvPicPr>
          <p:cNvPr id="4" name="outlier chart" descr="Test MAE against share of corrupted training bills; least squares rises steeply, Huber stays flat">    </p:cNvPr>
          <p:cNvPicPr>
            <a:picLocks noChangeAspect="1"/>
          </p:cNvPicPr>
          <p:nvPr/>
        </p:nvPicPr>
        <p:blipFill>
          <a:blip r:embed="rId1"/>
          <a:stretch>
            <a:fillRect/>
          </a:stretch>
        </p:blipFill>
        <p:spPr>
          <a:xfrm>
            <a:off x="782036" y="1234440"/>
            <a:ext cx="3556568" cy="3291840"/>
          </a:xfrm>
          <a:prstGeom prst="rect">
            <a:avLst/>
          </a:prstGeom>
        </p:spPr>
      </p:pic>
      <p:sp>
        <p:nvSpPr>
          <p:cNvPr id="5" name="OLS outlier stat card"/>
          <p:cNvSpPr/>
          <p:nvPr/>
        </p:nvSpPr>
        <p:spPr>
          <a:xfrm>
            <a:off x="4937760" y="1325880"/>
            <a:ext cx="3749040" cy="960120"/>
          </a:xfrm>
          <a:prstGeom prst="roundRect">
            <a:avLst>
              <a:gd name="adj" fmla="val 7619"/>
            </a:avLst>
          </a:prstGeom>
          <a:solidFill>
            <a:schemeClr val="bg2"/>
          </a:solidFill>
          <a:ln w="12700">
            <a:solidFill>
              <a:schemeClr val="bg2"/>
            </a:solidFill>
            <a:prstDash val="solid"/>
          </a:ln>
        </p:spPr>
      </p:sp>
      <p:sp>
        <p:nvSpPr>
          <p:cNvPr id="6" name="OLS outlier stat"/>
          <p:cNvSpPr txBox="1"/>
          <p:nvPr/>
        </p:nvSpPr>
        <p:spPr>
          <a:xfrm>
            <a:off x="5120640" y="1399032"/>
            <a:ext cx="3383280" cy="457200"/>
          </a:xfrm>
          <a:prstGeom prst="rect">
            <a:avLst/>
          </a:prstGeom>
          <a:noFill/>
          <a:ln/>
        </p:spPr>
        <p:txBody>
          <a:bodyPr wrap="square" lIns="0" tIns="0" rIns="0" bIns="0" rtlCol="0" anchor="ctr"/>
          <a:lstStyle/>
          <a:p>
            <a:pPr indent="0" marL="0">
              <a:buNone/>
            </a:pPr>
            <a:r>
              <a:rPr lang="en-US" sz="2400" b="1" dirty="0">
                <a:solidFill>
                  <a:schemeClr val="accent3"/>
                </a:solidFill>
                <a:latin typeface="Cambria" pitchFamily="34" charset="0"/>
                <a:ea typeface="Cambria" pitchFamily="34" charset="-122"/>
                <a:cs typeface="Cambria" pitchFamily="34" charset="-120"/>
              </a:rPr>
              <a:t>$4,069 → $8,749</a:t>
            </a:r>
            <a:endParaRPr lang="en-US" sz="2400" dirty="0"/>
          </a:p>
        </p:txBody>
      </p:sp>
      <p:sp>
        <p:nvSpPr>
          <p:cNvPr id="7" name="OLS outlier stat label"/>
          <p:cNvSpPr txBox="1"/>
          <p:nvPr/>
        </p:nvSpPr>
        <p:spPr>
          <a:xfrm>
            <a:off x="5120640" y="1856232"/>
            <a:ext cx="3383280" cy="384048"/>
          </a:xfrm>
          <a:prstGeom prst="rect">
            <a:avLst/>
          </a:prstGeom>
          <a:noFill/>
          <a:ln/>
        </p:spPr>
        <p:txBody>
          <a:bodyPr wrap="square" lIns="0" tIns="0" rIns="0" bIns="0" rtlCol="0" anchor="t"/>
          <a:lstStyle/>
          <a:p>
            <a:pPr indent="0" marL="0">
              <a:buNone/>
            </a:pPr>
            <a:r>
              <a:rPr lang="en-US" sz="1100" dirty="0">
                <a:solidFill>
                  <a:schemeClr val="tx1"/>
                </a:solidFill>
              </a:rPr>
              <a:t>least squares test MAE: clean data to 14% corrupted</a:t>
            </a:r>
            <a:endParaRPr lang="en-US" sz="1100" dirty="0"/>
          </a:p>
        </p:txBody>
      </p:sp>
      <p:sp>
        <p:nvSpPr>
          <p:cNvPr id="8" name="Huber outlier stat card"/>
          <p:cNvSpPr/>
          <p:nvPr/>
        </p:nvSpPr>
        <p:spPr>
          <a:xfrm>
            <a:off x="4937760" y="2423160"/>
            <a:ext cx="3749040" cy="960120"/>
          </a:xfrm>
          <a:prstGeom prst="roundRect">
            <a:avLst>
              <a:gd name="adj" fmla="val 7619"/>
            </a:avLst>
          </a:prstGeom>
          <a:solidFill>
            <a:schemeClr val="bg2"/>
          </a:solidFill>
          <a:ln w="12700">
            <a:solidFill>
              <a:schemeClr val="bg2"/>
            </a:solidFill>
            <a:prstDash val="solid"/>
          </a:ln>
        </p:spPr>
      </p:sp>
      <p:sp>
        <p:nvSpPr>
          <p:cNvPr id="9" name="Huber outlier stat"/>
          <p:cNvSpPr txBox="1"/>
          <p:nvPr/>
        </p:nvSpPr>
        <p:spPr>
          <a:xfrm>
            <a:off x="5120640" y="2496312"/>
            <a:ext cx="338328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$3,278 → $3,049</a:t>
            </a:r>
            <a:endParaRPr lang="en-US" sz="2400" dirty="0"/>
          </a:p>
        </p:txBody>
      </p:sp>
      <p:sp>
        <p:nvSpPr>
          <p:cNvPr id="10" name="Huber outlier stat label"/>
          <p:cNvSpPr txBox="1"/>
          <p:nvPr/>
        </p:nvSpPr>
        <p:spPr>
          <a:xfrm>
            <a:off x="5120640" y="2953512"/>
            <a:ext cx="3383280" cy="384048"/>
          </a:xfrm>
          <a:prstGeom prst="rect">
            <a:avLst/>
          </a:prstGeom>
          <a:noFill/>
          <a:ln/>
        </p:spPr>
        <p:txBody>
          <a:bodyPr wrap="square" lIns="0" tIns="0" rIns="0" bIns="0" rtlCol="0" anchor="t"/>
          <a:lstStyle/>
          <a:p>
            <a:pPr indent="0" marL="0">
              <a:buNone/>
            </a:pPr>
            <a:r>
              <a:rPr lang="en-US" sz="1100" dirty="0">
                <a:solidFill>
                  <a:schemeClr val="tx1"/>
                </a:solidFill>
              </a:rPr>
              <a:t>Huber test MAE over the same range</a:t>
            </a:r>
            <a:endParaRPr lang="en-US" sz="1100" dirty="0"/>
          </a:p>
        </p:txBody>
      </p:sp>
      <p:sp>
        <p:nvSpPr>
          <p:cNvPr id="11" name="Huber note"/>
          <p:cNvSpPr txBox="1"/>
          <p:nvPr/>
        </p:nvSpPr>
        <p:spPr>
          <a:xfrm>
            <a:off x="4937760" y="3566160"/>
            <a:ext cx="3749040" cy="822960"/>
          </a:xfrm>
          <a:prstGeom prst="rect">
            <a:avLst/>
          </a:prstGeom>
          <a:noFill/>
          <a:ln/>
        </p:spPr>
        <p:txBody>
          <a:bodyPr wrap="square" lIns="0" tIns="0" rIns="0" bIns="0" rtlCol="0" anchor="t"/>
          <a:lstStyle/>
          <a:p>
            <a:pPr indent="0" marL="0">
              <a:buNone/>
            </a:pPr>
            <a:r>
              <a:rPr lang="en-US" sz="1250" dirty="0">
                <a:solidFill>
                  <a:schemeClr val="tx1"/>
                </a:solidFill>
              </a:rPr>
              <a:t>On clean data Huber has the lower MAE but the higher RMSE: it fits the typical customer and gives up on the expensive few.</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Ridge shrinks the weights; Bayesian regression adds an error bar</a:t>
            </a:r>
            <a:endParaRPr lang="en-US" sz="2600" dirty="0"/>
          </a:p>
        </p:txBody>
      </p:sp>
      <p:pic>
        <p:nvPicPr>
          <p:cNvPr id="4" name="ridge chart" descr="Ridge coefficient paths against lambda on a log scale">    </p:cNvPr>
          <p:cNvPicPr>
            <a:picLocks noChangeAspect="1"/>
          </p:cNvPicPr>
          <p:nvPr/>
        </p:nvPicPr>
        <p:blipFill>
          <a:blip r:embed="rId1"/>
          <a:stretch>
            <a:fillRect/>
          </a:stretch>
        </p:blipFill>
        <p:spPr>
          <a:xfrm>
            <a:off x="838786" y="1234440"/>
            <a:ext cx="3260188" cy="3017520"/>
          </a:xfrm>
          <a:prstGeom prst="rect">
            <a:avLst/>
          </a:prstGeom>
        </p:spPr>
      </p:pic>
      <p:pic>
        <p:nvPicPr>
          <p:cNvPr id="5" name="bayes chart" descr="Bayesian predicted mean with plus or minus two standard deviation bars and actual bills">    </p:cNvPr>
          <p:cNvPicPr>
            <a:picLocks noChangeAspect="1"/>
          </p:cNvPicPr>
          <p:nvPr/>
        </p:nvPicPr>
        <p:blipFill>
          <a:blip r:embed="rId2"/>
          <a:stretch>
            <a:fillRect/>
          </a:stretch>
        </p:blipFill>
        <p:spPr>
          <a:xfrm>
            <a:off x="5045026" y="1234440"/>
            <a:ext cx="3260188" cy="3017520"/>
          </a:xfrm>
          <a:prstGeom prst="rect">
            <a:avLst/>
          </a:prstGeom>
        </p:spPr>
      </p:pic>
      <p:sp>
        <p:nvSpPr>
          <p:cNvPr id="6" name="Ridge caption"/>
          <p:cNvSpPr txBox="1"/>
          <p:nvPr/>
        </p:nvSpPr>
        <p:spPr>
          <a:xfrm>
            <a:off x="457200" y="4297680"/>
            <a:ext cx="4023360" cy="274320"/>
          </a:xfrm>
          <a:prstGeom prst="rect">
            <a:avLst/>
          </a:prstGeom>
          <a:noFill/>
          <a:ln/>
        </p:spPr>
        <p:txBody>
          <a:bodyPr wrap="square" lIns="0" tIns="0" rIns="0" bIns="0" rtlCol="0" anchor="t"/>
          <a:lstStyle/>
          <a:p>
            <a:pPr indent="0" marL="0">
              <a:buNone/>
            </a:pPr>
            <a:r>
              <a:rPr lang="en-US" sz="1100" dirty="0">
                <a:solidFill>
                  <a:schemeClr val="accent5"/>
                </a:solidFill>
              </a:rPr>
              <a:t>Ridge: weight against λ (log scale)</a:t>
            </a:r>
            <a:endParaRPr lang="en-US" sz="1100" dirty="0"/>
          </a:p>
        </p:txBody>
      </p:sp>
      <p:sp>
        <p:nvSpPr>
          <p:cNvPr id="7" name="Bayes caption"/>
          <p:cNvSpPr txBox="1"/>
          <p:nvPr/>
        </p:nvSpPr>
        <p:spPr>
          <a:xfrm>
            <a:off x="4663440" y="4297680"/>
            <a:ext cx="4023360" cy="274320"/>
          </a:xfrm>
          <a:prstGeom prst="rect">
            <a:avLst/>
          </a:prstGeom>
          <a:noFill/>
          <a:ln/>
        </p:spPr>
        <p:txBody>
          <a:bodyPr wrap="square" lIns="0" tIns="0" rIns="0" bIns="0" rtlCol="0" anchor="t"/>
          <a:lstStyle/>
          <a:p>
            <a:pPr indent="0" marL="0">
              <a:buNone/>
            </a:pPr>
            <a:r>
              <a:rPr lang="en-US" sz="1100" dirty="0">
                <a:solidFill>
                  <a:schemeClr val="accent5"/>
                </a:solidFill>
              </a:rPr>
              <a:t>Bayesian: 95.2% of test bills fall inside the ±2 std bars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The four linear models score R² 0.78 to 0.80; the RBF kernel reaches 0.87</a:t>
            </a:r>
            <a:endParaRPr lang="en-US" sz="2600" dirty="0"/>
          </a:p>
        </p:txBody>
      </p:sp>
      <p:graphicFrame>
        <p:nvGraphicFramePr>
          <p:cNvPr id="4" name="R2 chart" descr=""/>
          <p:cNvGraphicFramePr/>
          <p:nvPr/>
        </p:nvGraphicFramePr>
        <p:xfrm>
          <a:off x="457200" y="1280160"/>
          <a:ext cx="45720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Regression table"/>
          <p:cNvGraphicFramePr>
            <a:graphicFrameLocks noGrp="1"/>
          </p:cNvGraphicFramePr>
          <p:nvPr>
            <p:extLst>
              <p:ext uri="{D42A27DB-BD31-4B8C-83A1-F6EECF244321}">
                <p14:modId xmlns:p14="http://schemas.microsoft.com/office/powerpoint/2010/main" val="1579011935"/>
              </p:ext>
            </p:extLst>
          </p:nvPr>
        </p:nvGraphicFramePr>
        <p:xfrm>
          <a:off x="5212080" y="1371600"/>
          <a:ext cx="3474720" cy="914400"/>
        </p:xfrm>
        <a:graphic>
          <a:graphicData uri="http://schemas.openxmlformats.org/drawingml/2006/table">
            <a:tbl>
              <a:tblPr/>
              <a:tblGrid>
                <a:gridCol w="1920240"/>
                <a:gridCol w="777240"/>
                <a:gridCol w="777240"/>
              </a:tblGrid>
              <a:tr h="384048">
                <a:tc>
                  <a:txBody>
                    <a:bodyPr/>
                    <a:lstStyle/>
                    <a:p>
                      <a:pPr algn="l" indent="0" marL="0">
                        <a:buNone/>
                      </a:pPr>
                      <a:r>
                        <a:rPr lang="en-US" sz="1200" b="1" dirty="0">
                          <a:solidFill>
                            <a:srgbClr val="FFFFFF"/>
                          </a:solidFill>
                        </a:rPr>
                        <a:t>Model</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rPr>
                        <a:t>RMSE</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14213D"/>
                    </a:solidFill>
                  </a:tcPr>
                </a:tc>
                <a:tc>
                  <a:txBody>
                    <a:bodyPr/>
                    <a:lstStyle/>
                    <a:p>
                      <a:pPr algn="r" indent="0" marL="0">
                        <a:buNone/>
                      </a:pPr>
                      <a:r>
                        <a:rPr lang="en-US" sz="1200" b="1" dirty="0">
                          <a:solidFill>
                            <a:srgbClr val="FFFFFF"/>
                          </a:solidFill>
                        </a:rPr>
                        <a:t>MAE</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solidFill>
                      <a:srgbClr val="14213D"/>
                    </a:solidFill>
                  </a:tcPr>
                </a:tc>
              </a:tr>
              <a:tr h="384048">
                <a:tc>
                  <a:txBody>
                    <a:bodyPr/>
                    <a:lstStyle/>
                    <a:p>
                      <a:pPr indent="0" marL="0">
                        <a:buNone/>
                      </a:pPr>
                      <a:r>
                        <a:rPr lang="en-US" sz="1200" dirty="0">
                          <a:solidFill>
                            <a:srgbClr val="1C2430"/>
                          </a:solidFill>
                        </a:rPr>
                        <a:t>Least squares (MLE)</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$5,940</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$4,069</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r>
              <a:tr h="384048">
                <a:tc>
                  <a:txBody>
                    <a:bodyPr/>
                    <a:lstStyle/>
                    <a:p>
                      <a:pPr indent="0" marL="0">
                        <a:buNone/>
                      </a:pPr>
                      <a:r>
                        <a:rPr lang="en-US" sz="1200" dirty="0">
                          <a:solidFill>
                            <a:srgbClr val="1C2430"/>
                          </a:solidFill>
                        </a:rPr>
                        <a:t>Robust (Huber loss)</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$6,189</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$3,278</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r>
              <a:tr h="384048">
                <a:tc>
                  <a:txBody>
                    <a:bodyPr/>
                    <a:lstStyle/>
                    <a:p>
                      <a:pPr indent="0" marL="0">
                        <a:buNone/>
                      </a:pPr>
                      <a:r>
                        <a:rPr lang="en-US" sz="1200" dirty="0">
                          <a:solidFill>
                            <a:srgbClr val="1C2430"/>
                          </a:solidFill>
                        </a:rPr>
                        <a:t>Ridge regression</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$6,084</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$4,227</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r>
              <a:tr h="384048">
                <a:tc>
                  <a:txBody>
                    <a:bodyPr/>
                    <a:lstStyle/>
                    <a:p>
                      <a:pPr indent="0" marL="0">
                        <a:buNone/>
                      </a:pPr>
                      <a:r>
                        <a:rPr lang="en-US" sz="1200" dirty="0">
                          <a:solidFill>
                            <a:srgbClr val="1C2430"/>
                          </a:solidFill>
                        </a:rPr>
                        <a:t>Bayesian linear regression</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$5,947</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$4,077</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r>
              <a:tr h="384048">
                <a:tc>
                  <a:txBody>
                    <a:bodyPr/>
                    <a:lstStyle/>
                    <a:p>
                      <a:pPr indent="0" marL="0">
                        <a:buNone/>
                      </a:pPr>
                      <a:r>
                        <a:rPr lang="en-US" sz="1200" dirty="0">
                          <a:solidFill>
                            <a:srgbClr val="1C2430"/>
                          </a:solidFill>
                        </a:rPr>
                        <a:t>Kernel ridge (RBF)</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$4,774</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c>
                  <a:txBody>
                    <a:bodyPr/>
                    <a:lstStyle/>
                    <a:p>
                      <a:pPr algn="r" indent="0" marL="0">
                        <a:buNone/>
                      </a:pPr>
                      <a:r>
                        <a:rPr lang="en-US" sz="1200" dirty="0">
                          <a:solidFill>
                            <a:srgbClr val="1C2430"/>
                          </a:solidFill>
                        </a:rPr>
                        <a:t>$2,862</a:t>
                      </a:r>
                      <a:endParaRPr lang="en-US" sz="1200" dirty="0"/>
                    </a:p>
                  </a:txBody>
                  <a:tcPr marL="91440" marR="91440" marT="27432" marB="27432" anchor="ctr">
                    <a:lnL w="9525" cap="flat" cmpd="sng" algn="ctr">
                      <a:solidFill>
                        <a:srgbClr val="D9E0E5"/>
                      </a:solidFill>
                      <a:prstDash val="solid"/>
                      <a:round/>
                      <a:headEnd type="none" w="med" len="med"/>
                      <a:tailEnd type="none" w="med" len="med"/>
                    </a:lnL>
                    <a:lnR w="9525" cap="flat" cmpd="sng" algn="ctr">
                      <a:solidFill>
                        <a:srgbClr val="D9E0E5"/>
                      </a:solidFill>
                      <a:prstDash val="solid"/>
                      <a:round/>
                      <a:headEnd type="none" w="med" len="med"/>
                      <a:tailEnd type="none" w="med" len="med"/>
                    </a:lnR>
                    <a:lnT w="9525" cap="flat" cmpd="sng" algn="ctr">
                      <a:solidFill>
                        <a:srgbClr val="D9E0E5"/>
                      </a:solidFill>
                      <a:prstDash val="solid"/>
                      <a:round/>
                      <a:headEnd type="none" w="med" len="med"/>
                      <a:tailEnd type="none" w="med" len="med"/>
                    </a:lnT>
                    <a:lnB w="9525" cap="flat" cmpd="sng" algn="ctr">
                      <a:solidFill>
                        <a:srgbClr val="D9E0E5"/>
                      </a:solidFill>
                      <a:prstDash val="solid"/>
                      <a:round/>
                      <a:headEnd type="none" w="med" len="med"/>
                      <a:tailEnd type="none" w="med" len="med"/>
                    </a:lnB>
                  </a:tcPr>
                </a:tc>
              </a:tr>
            </a:tbl>
          </a:graphicData>
        </a:graphic>
      </p:graphicFrame>
      <p:sp>
        <p:nvSpPr>
          <p:cNvPr id="6" name="Regression table note"/>
          <p:cNvSpPr txBox="1"/>
          <p:nvPr/>
        </p:nvSpPr>
        <p:spPr>
          <a:xfrm>
            <a:off x="5212080" y="3794760"/>
            <a:ext cx="3474720" cy="457200"/>
          </a:xfrm>
          <a:prstGeom prst="rect">
            <a:avLst/>
          </a:prstGeom>
          <a:noFill/>
          <a:ln/>
        </p:spPr>
        <p:txBody>
          <a:bodyPr wrap="square" lIns="0" tIns="0" rIns="0" bIns="0" rtlCol="0" anchor="t"/>
          <a:lstStyle/>
          <a:p>
            <a:pPr indent="0" marL="0">
              <a:buNone/>
            </a:pPr>
            <a:r>
              <a:rPr lang="en-US" sz="1100" dirty="0">
                <a:solidFill>
                  <a:schemeClr val="accent5"/>
                </a:solidFill>
              </a:rPr>
              <a:t>Errors in US dollars per year on 335 test customers.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Seven of eight classifiers reach about 90% accuracy; Naive Bayes does not</a:t>
            </a:r>
            <a:endParaRPr lang="en-US" sz="2600" dirty="0"/>
          </a:p>
        </p:txBody>
      </p:sp>
      <p:graphicFrame>
        <p:nvGraphicFramePr>
          <p:cNvPr id="4" name="Accuracy chart" descr=""/>
          <p:cNvGraphicFramePr/>
          <p:nvPr/>
        </p:nvGraphicFramePr>
        <p:xfrm>
          <a:off x="457200" y="1280160"/>
          <a:ext cx="5120640" cy="3337560"/>
        </p:xfrm>
        <a:graphic xmlns:a="http://schemas.openxmlformats.org/drawingml/2006/main">
          <a:graphicData uri="http://schemas.openxmlformats.org/drawingml/2006/chart">
            <c:chart xmlns:c="http://schemas.openxmlformats.org/drawingml/2006/chart" r:id="rId1"/>
          </a:graphicData>
        </a:graphic>
      </p:graphicFrame>
      <p:sp>
        <p:nvSpPr>
          <p:cNvPr id="5" name="Best clf stat card"/>
          <p:cNvSpPr/>
          <p:nvPr/>
        </p:nvSpPr>
        <p:spPr>
          <a:xfrm>
            <a:off x="5852160" y="1325880"/>
            <a:ext cx="2834640" cy="960120"/>
          </a:xfrm>
          <a:prstGeom prst="roundRect">
            <a:avLst>
              <a:gd name="adj" fmla="val 7619"/>
            </a:avLst>
          </a:prstGeom>
          <a:solidFill>
            <a:schemeClr val="bg2"/>
          </a:solidFill>
          <a:ln w="12700">
            <a:solidFill>
              <a:schemeClr val="bg2"/>
            </a:solidFill>
            <a:prstDash val="solid"/>
          </a:ln>
        </p:spPr>
      </p:sp>
      <p:sp>
        <p:nvSpPr>
          <p:cNvPr id="6" name="Best clf stat"/>
          <p:cNvSpPr txBox="1"/>
          <p:nvPr/>
        </p:nvSpPr>
        <p:spPr>
          <a:xfrm>
            <a:off x="6035040" y="1399032"/>
            <a:ext cx="246888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92.5%</a:t>
            </a:r>
            <a:endParaRPr lang="en-US" sz="2400" dirty="0"/>
          </a:p>
        </p:txBody>
      </p:sp>
      <p:sp>
        <p:nvSpPr>
          <p:cNvPr id="7" name="Best clf stat label"/>
          <p:cNvSpPr txBox="1"/>
          <p:nvPr/>
        </p:nvSpPr>
        <p:spPr>
          <a:xfrm>
            <a:off x="6035040" y="1856232"/>
            <a:ext cx="2468880" cy="384048"/>
          </a:xfrm>
          <a:prstGeom prst="rect">
            <a:avLst/>
          </a:prstGeom>
          <a:noFill/>
          <a:ln/>
        </p:spPr>
        <p:txBody>
          <a:bodyPr wrap="square" lIns="0" tIns="0" rIns="0" bIns="0" rtlCol="0" anchor="t"/>
          <a:lstStyle/>
          <a:p>
            <a:pPr indent="0" marL="0">
              <a:buNone/>
            </a:pPr>
            <a:r>
              <a:rPr lang="en-US" sz="1100" dirty="0">
                <a:solidFill>
                  <a:schemeClr val="tx1"/>
                </a:solidFill>
              </a:rPr>
              <a:t>best accuracy: SVM with RBF kernel (AUC 0.965)</a:t>
            </a:r>
            <a:endParaRPr lang="en-US" sz="1100" dirty="0"/>
          </a:p>
        </p:txBody>
      </p:sp>
      <p:sp>
        <p:nvSpPr>
          <p:cNvPr id="8" name="Logistic stat card"/>
          <p:cNvSpPr/>
          <p:nvPr/>
        </p:nvSpPr>
        <p:spPr>
          <a:xfrm>
            <a:off x="5852160" y="2423160"/>
            <a:ext cx="2834640" cy="960120"/>
          </a:xfrm>
          <a:prstGeom prst="roundRect">
            <a:avLst>
              <a:gd name="adj" fmla="val 7619"/>
            </a:avLst>
          </a:prstGeom>
          <a:solidFill>
            <a:schemeClr val="bg2"/>
          </a:solidFill>
          <a:ln w="12700">
            <a:solidFill>
              <a:schemeClr val="bg2"/>
            </a:solidFill>
            <a:prstDash val="solid"/>
          </a:ln>
        </p:spPr>
      </p:sp>
      <p:sp>
        <p:nvSpPr>
          <p:cNvPr id="9" name="Logistic stat"/>
          <p:cNvSpPr txBox="1"/>
          <p:nvPr/>
        </p:nvSpPr>
        <p:spPr>
          <a:xfrm>
            <a:off x="6035040" y="2496312"/>
            <a:ext cx="246888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90.7%</a:t>
            </a:r>
            <a:endParaRPr lang="en-US" sz="2400" dirty="0"/>
          </a:p>
        </p:txBody>
      </p:sp>
      <p:sp>
        <p:nvSpPr>
          <p:cNvPr id="10" name="Logistic stat label"/>
          <p:cNvSpPr txBox="1"/>
          <p:nvPr/>
        </p:nvSpPr>
        <p:spPr>
          <a:xfrm>
            <a:off x="6035040" y="2953512"/>
            <a:ext cx="2468880" cy="384048"/>
          </a:xfrm>
          <a:prstGeom prst="rect">
            <a:avLst/>
          </a:prstGeom>
          <a:noFill/>
          <a:ln/>
        </p:spPr>
        <p:txBody>
          <a:bodyPr wrap="square" lIns="0" tIns="0" rIns="0" bIns="0" rtlCol="0" anchor="t"/>
          <a:lstStyle/>
          <a:p>
            <a:pPr indent="0" marL="0">
              <a:buNone/>
            </a:pPr>
            <a:r>
              <a:rPr lang="en-US" sz="1100" dirty="0">
                <a:solidFill>
                  <a:schemeClr val="tx1"/>
                </a:solidFill>
              </a:rPr>
              <a:t>logistic regression, LDA within 1 point of it</a:t>
            </a:r>
            <a:endParaRPr lang="en-US" sz="1100" dirty="0"/>
          </a:p>
        </p:txBody>
      </p:sp>
      <p:sp>
        <p:nvSpPr>
          <p:cNvPr id="11" name="NB stat card"/>
          <p:cNvSpPr/>
          <p:nvPr/>
        </p:nvSpPr>
        <p:spPr>
          <a:xfrm>
            <a:off x="5852160" y="3520440"/>
            <a:ext cx="2834640" cy="960120"/>
          </a:xfrm>
          <a:prstGeom prst="roundRect">
            <a:avLst>
              <a:gd name="adj" fmla="val 7619"/>
            </a:avLst>
          </a:prstGeom>
          <a:solidFill>
            <a:schemeClr val="bg2"/>
          </a:solidFill>
          <a:ln w="12700">
            <a:solidFill>
              <a:schemeClr val="bg2"/>
            </a:solidFill>
            <a:prstDash val="solid"/>
          </a:ln>
        </p:spPr>
      </p:sp>
      <p:sp>
        <p:nvSpPr>
          <p:cNvPr id="12" name="NB stat"/>
          <p:cNvSpPr txBox="1"/>
          <p:nvPr/>
        </p:nvSpPr>
        <p:spPr>
          <a:xfrm>
            <a:off x="6035040" y="3593592"/>
            <a:ext cx="246888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74.3%</a:t>
            </a:r>
            <a:endParaRPr lang="en-US" sz="2400" dirty="0"/>
          </a:p>
        </p:txBody>
      </p:sp>
      <p:sp>
        <p:nvSpPr>
          <p:cNvPr id="13" name="NB stat label"/>
          <p:cNvSpPr txBox="1"/>
          <p:nvPr/>
        </p:nvSpPr>
        <p:spPr>
          <a:xfrm>
            <a:off x="6035040" y="4050792"/>
            <a:ext cx="2468880" cy="384048"/>
          </a:xfrm>
          <a:prstGeom prst="rect">
            <a:avLst/>
          </a:prstGeom>
          <a:noFill/>
          <a:ln/>
        </p:spPr>
        <p:txBody>
          <a:bodyPr wrap="square" lIns="0" tIns="0" rIns="0" bIns="0" rtlCol="0" anchor="t"/>
          <a:lstStyle/>
          <a:p>
            <a:pPr indent="0" marL="0">
              <a:buNone/>
            </a:pPr>
            <a:r>
              <a:rPr lang="en-US" sz="1100" dirty="0">
                <a:solidFill>
                  <a:schemeClr val="tx1"/>
                </a:solidFill>
              </a:rPr>
              <a:t>Naive Bayes accuracy, despite AUC 0.941</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Naive Bayes ranks customers well but its probabilities are distorted</a:t>
            </a:r>
            <a:endParaRPr lang="en-US" sz="2600" dirty="0"/>
          </a:p>
        </p:txBody>
      </p:sp>
      <p:pic>
        <p:nvPicPr>
          <p:cNvPr id="4" name="nb chart" descr="Histogram of predicted probabilities: Naive Bayes piles up at 0 and 1, logistic regression is spread out">    </p:cNvPr>
          <p:cNvPicPr>
            <a:picLocks noChangeAspect="1"/>
          </p:cNvPicPr>
          <p:nvPr/>
        </p:nvPicPr>
        <p:blipFill>
          <a:blip r:embed="rId1"/>
          <a:stretch>
            <a:fillRect/>
          </a:stretch>
        </p:blipFill>
        <p:spPr>
          <a:xfrm>
            <a:off x="736316" y="1234440"/>
            <a:ext cx="3556568" cy="3291840"/>
          </a:xfrm>
          <a:prstGeom prst="rect">
            <a:avLst/>
          </a:prstGeom>
        </p:spPr>
      </p:pic>
      <p:sp>
        <p:nvSpPr>
          <p:cNvPr id="5" name="Generative card"/>
          <p:cNvSpPr/>
          <p:nvPr/>
        </p:nvSpPr>
        <p:spPr>
          <a:xfrm>
            <a:off x="4846320" y="1325880"/>
            <a:ext cx="3840480" cy="1051560"/>
          </a:xfrm>
          <a:prstGeom prst="roundRect">
            <a:avLst>
              <a:gd name="adj" fmla="val 6957"/>
            </a:avLst>
          </a:prstGeom>
          <a:solidFill>
            <a:schemeClr val="bg2"/>
          </a:solidFill>
          <a:ln w="12700">
            <a:solidFill>
              <a:schemeClr val="bg2"/>
            </a:solidFill>
            <a:prstDash val="solid"/>
          </a:ln>
        </p:spPr>
      </p:sp>
      <p:sp>
        <p:nvSpPr>
          <p:cNvPr id="6" name="Generative badge"/>
          <p:cNvSpPr txBox="1"/>
          <p:nvPr/>
        </p:nvSpPr>
        <p:spPr>
          <a:xfrm>
            <a:off x="5029200" y="1508760"/>
            <a:ext cx="384048" cy="384048"/>
          </a:xfrm>
          <a:prstGeom prst="ellipse">
            <a:avLst/>
          </a:prstGeom>
          <a:solidFill>
            <a:srgbClr val="E4572E"/>
          </a:solidFill>
          <a:ln/>
        </p:spPr>
        <p:txBody>
          <a:bodyPr wrap="square" lIns="0" tIns="0" rIns="0" bIns="0" rtlCol="0" anchor="ctr"/>
          <a:lstStyle/>
          <a:p>
            <a:pPr algn="ctr" indent="0" marL="0">
              <a:buNone/>
            </a:pPr>
            <a:r>
              <a:rPr lang="en-US" sz="1300" b="1" dirty="0">
                <a:solidFill>
                  <a:schemeClr val="bg1"/>
                </a:solidFill>
              </a:rPr>
              <a:t>G</a:t>
            </a:r>
            <a:endParaRPr lang="en-US" sz="1300" dirty="0"/>
          </a:p>
        </p:txBody>
      </p:sp>
      <p:sp>
        <p:nvSpPr>
          <p:cNvPr id="7" name="Generative heading"/>
          <p:cNvSpPr txBox="1"/>
          <p:nvPr/>
        </p:nvSpPr>
        <p:spPr>
          <a:xfrm>
            <a:off x="5577840" y="1417320"/>
            <a:ext cx="2926080" cy="292608"/>
          </a:xfrm>
          <a:prstGeom prst="rect">
            <a:avLst/>
          </a:prstGeom>
          <a:noFill/>
          <a:ln/>
        </p:spPr>
        <p:txBody>
          <a:bodyPr wrap="square" lIns="0" tIns="0" rIns="0" bIns="0" rtlCol="0" anchor="t"/>
          <a:lstStyle/>
          <a:p>
            <a:pPr indent="0" marL="0">
              <a:buNone/>
            </a:pPr>
            <a:r>
              <a:rPr lang="en-US" sz="1400" b="1" dirty="0">
                <a:solidFill>
                  <a:schemeClr val="tx2"/>
                </a:solidFill>
              </a:rPr>
              <a:t>Generative</a:t>
            </a:r>
            <a:endParaRPr lang="en-US" sz="1400" dirty="0"/>
          </a:p>
        </p:txBody>
      </p:sp>
      <p:sp>
        <p:nvSpPr>
          <p:cNvPr id="8" name="Generative text"/>
          <p:cNvSpPr txBox="1"/>
          <p:nvPr/>
        </p:nvSpPr>
        <p:spPr>
          <a:xfrm>
            <a:off x="5577840" y="1728216"/>
            <a:ext cx="2971800" cy="594360"/>
          </a:xfrm>
          <a:prstGeom prst="rect">
            <a:avLst/>
          </a:prstGeom>
          <a:noFill/>
          <a:ln/>
        </p:spPr>
        <p:txBody>
          <a:bodyPr wrap="square" lIns="0" tIns="0" rIns="0" bIns="0" rtlCol="0" anchor="t"/>
          <a:lstStyle/>
          <a:p>
            <a:pPr indent="0" marL="0">
              <a:buNone/>
            </a:pPr>
            <a:r>
              <a:rPr lang="en-US" sz="1150" dirty="0">
                <a:solidFill>
                  <a:schemeClr val="tx1"/>
                </a:solidFill>
              </a:rPr>
              <a:t>Models p(x | class), then applies Bayes rule. Wrong feature assumptions distort the probabilities.</a:t>
            </a:r>
            <a:endParaRPr lang="en-US" sz="1150" dirty="0"/>
          </a:p>
        </p:txBody>
      </p:sp>
      <p:sp>
        <p:nvSpPr>
          <p:cNvPr id="9" name="Discriminative card"/>
          <p:cNvSpPr/>
          <p:nvPr/>
        </p:nvSpPr>
        <p:spPr>
          <a:xfrm>
            <a:off x="4846320" y="2514600"/>
            <a:ext cx="3840480" cy="1051560"/>
          </a:xfrm>
          <a:prstGeom prst="roundRect">
            <a:avLst>
              <a:gd name="adj" fmla="val 6957"/>
            </a:avLst>
          </a:prstGeom>
          <a:solidFill>
            <a:schemeClr val="bg2"/>
          </a:solidFill>
          <a:ln w="12700">
            <a:solidFill>
              <a:schemeClr val="bg2"/>
            </a:solidFill>
            <a:prstDash val="solid"/>
          </a:ln>
        </p:spPr>
      </p:sp>
      <p:sp>
        <p:nvSpPr>
          <p:cNvPr id="10" name="Discriminative badge"/>
          <p:cNvSpPr txBox="1"/>
          <p:nvPr/>
        </p:nvSpPr>
        <p:spPr>
          <a:xfrm>
            <a:off x="5029200" y="2697480"/>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1" name="Discriminative heading"/>
          <p:cNvSpPr txBox="1"/>
          <p:nvPr/>
        </p:nvSpPr>
        <p:spPr>
          <a:xfrm>
            <a:off x="5577840" y="2606040"/>
            <a:ext cx="2926080" cy="292608"/>
          </a:xfrm>
          <a:prstGeom prst="rect">
            <a:avLst/>
          </a:prstGeom>
          <a:noFill/>
          <a:ln/>
        </p:spPr>
        <p:txBody>
          <a:bodyPr wrap="square" lIns="0" tIns="0" rIns="0" bIns="0" rtlCol="0" anchor="t"/>
          <a:lstStyle/>
          <a:p>
            <a:pPr indent="0" marL="0">
              <a:buNone/>
            </a:pPr>
            <a:r>
              <a:rPr lang="en-US" sz="1400" b="1" dirty="0">
                <a:solidFill>
                  <a:schemeClr val="tx2"/>
                </a:solidFill>
              </a:rPr>
              <a:t>Discriminative</a:t>
            </a:r>
            <a:endParaRPr lang="en-US" sz="1400" dirty="0"/>
          </a:p>
        </p:txBody>
      </p:sp>
      <p:sp>
        <p:nvSpPr>
          <p:cNvPr id="12" name="Discriminative text"/>
          <p:cNvSpPr txBox="1"/>
          <p:nvPr/>
        </p:nvSpPr>
        <p:spPr>
          <a:xfrm>
            <a:off x="5577840" y="2916936"/>
            <a:ext cx="2971800" cy="594360"/>
          </a:xfrm>
          <a:prstGeom prst="rect">
            <a:avLst/>
          </a:prstGeom>
          <a:noFill/>
          <a:ln/>
        </p:spPr>
        <p:txBody>
          <a:bodyPr wrap="square" lIns="0" tIns="0" rIns="0" bIns="0" rtlCol="0" anchor="t"/>
          <a:lstStyle/>
          <a:p>
            <a:pPr indent="0" marL="0">
              <a:buNone/>
            </a:pPr>
            <a:r>
              <a:rPr lang="en-US" sz="1150" dirty="0">
                <a:solidFill>
                  <a:schemeClr val="tx1"/>
                </a:solidFill>
              </a:rPr>
              <a:t>Models p(class | x) directly. No assumption about how features are distributed.</a:t>
            </a:r>
            <a:endParaRPr lang="en-US" sz="1150" dirty="0"/>
          </a:p>
        </p:txBody>
      </p:sp>
      <p:sp>
        <p:nvSpPr>
          <p:cNvPr id="13" name="NB share"/>
          <p:cNvSpPr txBox="1"/>
          <p:nvPr/>
        </p:nvSpPr>
        <p:spPr>
          <a:xfrm>
            <a:off x="4846320" y="3794760"/>
            <a:ext cx="3840480" cy="640080"/>
          </a:xfrm>
          <a:prstGeom prst="rect">
            <a:avLst/>
          </a:prstGeom>
          <a:noFill/>
          <a:ln/>
        </p:spPr>
        <p:txBody>
          <a:bodyPr wrap="square" lIns="0" tIns="0" rIns="0" bIns="0" rtlCol="0" anchor="ctr"/>
          <a:lstStyle/>
          <a:p>
            <a:pPr indent="0" marL="0">
              <a:buNone/>
            </a:pPr>
            <a:r>
              <a:rPr lang="en-US" sz="2200" b="1" dirty="0">
                <a:solidFill>
                  <a:schemeClr val="accent2"/>
                </a:solidFill>
              </a:rPr>
              <a:t>24%</a:t>
            </a:r>
            <a:pPr indent="0" marL="0">
              <a:buNone/>
            </a:pPr>
            <a:r>
              <a:rPr lang="en-US" sz="1250" dirty="0">
                <a:solidFill>
                  <a:schemeClr val="tx1"/>
                </a:solidFill>
              </a:rPr>
              <a:t>  of customers labelled high cost by Naive Bayes; the true share is 50%.</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With 40 training customers, weight uncertainty pulls predictions toward 0.5</a:t>
            </a:r>
            <a:endParaRPr lang="en-US" sz="2600" dirty="0"/>
          </a:p>
        </p:txBody>
      </p:sp>
      <p:pic>
        <p:nvPicPr>
          <p:cNvPr id="4" name="laplace chart" descr="MAP probability against Bayesian predictive probability, points bending toward 0.5">    </p:cNvPr>
          <p:cNvPicPr>
            <a:picLocks noChangeAspect="1"/>
          </p:cNvPicPr>
          <p:nvPr/>
        </p:nvPicPr>
        <p:blipFill>
          <a:blip r:embed="rId1"/>
          <a:stretch>
            <a:fillRect/>
          </a:stretch>
        </p:blipFill>
        <p:spPr>
          <a:xfrm>
            <a:off x="538367" y="1234440"/>
            <a:ext cx="3129505" cy="3200400"/>
          </a:xfrm>
          <a:prstGeom prst="rect">
            <a:avLst/>
          </a:prstGeom>
        </p:spPr>
      </p:pic>
      <p:pic>
        <p:nvPicPr>
          <p:cNvPr id="5" name="weights chart" descr="Posterior weights with error bars; smoker and age are the only clearly non-zero weights">    </p:cNvPr>
          <p:cNvPicPr>
            <a:picLocks noChangeAspect="1"/>
          </p:cNvPicPr>
          <p:nvPr/>
        </p:nvPicPr>
        <p:blipFill>
          <a:blip r:embed="rId2"/>
          <a:stretch>
            <a:fillRect/>
          </a:stretch>
        </p:blipFill>
        <p:spPr>
          <a:xfrm>
            <a:off x="3794760" y="1244945"/>
            <a:ext cx="3108960" cy="3179390"/>
          </a:xfrm>
          <a:prstGeom prst="rect">
            <a:avLst/>
          </a:prstGeom>
        </p:spPr>
      </p:pic>
      <p:sp>
        <p:nvSpPr>
          <p:cNvPr id="6" name="Laplace shift stat card"/>
          <p:cNvSpPr/>
          <p:nvPr/>
        </p:nvSpPr>
        <p:spPr>
          <a:xfrm>
            <a:off x="7040880" y="1325880"/>
            <a:ext cx="1645920" cy="960120"/>
          </a:xfrm>
          <a:prstGeom prst="roundRect">
            <a:avLst>
              <a:gd name="adj" fmla="val 7619"/>
            </a:avLst>
          </a:prstGeom>
          <a:solidFill>
            <a:schemeClr val="bg2"/>
          </a:solidFill>
          <a:ln w="12700">
            <a:solidFill>
              <a:schemeClr val="bg2"/>
            </a:solidFill>
            <a:prstDash val="solid"/>
          </a:ln>
        </p:spPr>
      </p:sp>
      <p:sp>
        <p:nvSpPr>
          <p:cNvPr id="7" name="Laplace shift stat"/>
          <p:cNvSpPr txBox="1"/>
          <p:nvPr/>
        </p:nvSpPr>
        <p:spPr>
          <a:xfrm>
            <a:off x="7223760" y="1399032"/>
            <a:ext cx="12801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0.076</a:t>
            </a:r>
            <a:endParaRPr lang="en-US" sz="2400" dirty="0"/>
          </a:p>
        </p:txBody>
      </p:sp>
      <p:sp>
        <p:nvSpPr>
          <p:cNvPr id="8" name="Laplace shift stat label"/>
          <p:cNvSpPr txBox="1"/>
          <p:nvPr/>
        </p:nvSpPr>
        <p:spPr>
          <a:xfrm>
            <a:off x="7223760" y="1856232"/>
            <a:ext cx="1280160" cy="384048"/>
          </a:xfrm>
          <a:prstGeom prst="rect">
            <a:avLst/>
          </a:prstGeom>
          <a:noFill/>
          <a:ln/>
        </p:spPr>
        <p:txBody>
          <a:bodyPr wrap="square" lIns="0" tIns="0" rIns="0" bIns="0" rtlCol="0" anchor="t"/>
          <a:lstStyle/>
          <a:p>
            <a:pPr indent="0" marL="0">
              <a:buNone/>
            </a:pPr>
            <a:r>
              <a:rPr lang="en-US" sz="1100" dirty="0">
                <a:solidFill>
                  <a:schemeClr val="tx1"/>
                </a:solidFill>
              </a:rPr>
              <a:t>largest shift toward 0.5</a:t>
            </a:r>
            <a:endParaRPr lang="en-US" sz="1100" dirty="0"/>
          </a:p>
        </p:txBody>
      </p:sp>
      <p:sp>
        <p:nvSpPr>
          <p:cNvPr id="9" name="Laplace note"/>
          <p:cNvSpPr txBox="1"/>
          <p:nvPr/>
        </p:nvSpPr>
        <p:spPr>
          <a:xfrm>
            <a:off x="7040880" y="2468880"/>
            <a:ext cx="1645920" cy="1097280"/>
          </a:xfrm>
          <a:prstGeom prst="rect">
            <a:avLst/>
          </a:prstGeom>
          <a:noFill/>
          <a:ln/>
        </p:spPr>
        <p:txBody>
          <a:bodyPr wrap="square" lIns="0" tIns="0" rIns="0" bIns="0" rtlCol="0" anchor="t"/>
          <a:lstStyle/>
          <a:p>
            <a:pPr indent="0" marL="0">
              <a:buNone/>
            </a:pPr>
            <a:r>
              <a:rPr lang="en-US" sz="1200" dirty="0">
                <a:solidFill>
                  <a:schemeClr val="tx1"/>
                </a:solidFill>
              </a:rPr>
              <a:t>The 0.5 decision boundary never moves; only the confidence changes.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An RBF kernel follows the jump at BMI 30 that a straight line cuts through</a:t>
            </a:r>
            <a:endParaRPr lang="en-US" sz="2600" dirty="0"/>
          </a:p>
        </p:txBody>
      </p:sp>
      <p:pic>
        <p:nvPicPr>
          <p:cNvPr id="4" name="kernel_reg chart" descr="Kernel ridge fits on smokers: linear line, polynomial curve, RBF curve following the step at BMI 30">    </p:cNvPr>
          <p:cNvPicPr>
            <a:picLocks noChangeAspect="1"/>
          </p:cNvPicPr>
          <p:nvPr/>
        </p:nvPicPr>
        <p:blipFill>
          <a:blip r:embed="rId1"/>
          <a:stretch>
            <a:fillRect/>
          </a:stretch>
        </p:blipFill>
        <p:spPr>
          <a:xfrm>
            <a:off x="457200" y="1251401"/>
            <a:ext cx="3566160" cy="3029319"/>
          </a:xfrm>
          <a:prstGeom prst="rect">
            <a:avLst/>
          </a:prstGeom>
        </p:spPr>
      </p:pic>
      <p:pic>
        <p:nvPicPr>
          <p:cNvPr id="5" name="svm chart" descr="SVM decision boundary on age and BMI for non-smokers, a near-vertical line around age 48">    </p:cNvPr>
          <p:cNvPicPr>
            <a:picLocks noChangeAspect="1"/>
          </p:cNvPicPr>
          <p:nvPr/>
        </p:nvPicPr>
        <p:blipFill>
          <a:blip r:embed="rId2"/>
          <a:stretch>
            <a:fillRect/>
          </a:stretch>
        </p:blipFill>
        <p:spPr>
          <a:xfrm>
            <a:off x="4114800" y="1347289"/>
            <a:ext cx="4572000" cy="2837543"/>
          </a:xfrm>
          <a:prstGeom prst="rect">
            <a:avLst/>
          </a:prstGeom>
        </p:spPr>
      </p:pic>
      <p:sp>
        <p:nvSpPr>
          <p:cNvPr id="6" name="Kernel caption"/>
          <p:cNvSpPr txBox="1"/>
          <p:nvPr/>
        </p:nvSpPr>
        <p:spPr>
          <a:xfrm>
            <a:off x="457200" y="4315968"/>
            <a:ext cx="3566160" cy="274320"/>
          </a:xfrm>
          <a:prstGeom prst="rect">
            <a:avLst/>
          </a:prstGeom>
          <a:noFill/>
          <a:ln/>
        </p:spPr>
        <p:txBody>
          <a:bodyPr wrap="square" lIns="0" tIns="0" rIns="0" bIns="0" rtlCol="0" anchor="t"/>
          <a:lstStyle/>
          <a:p>
            <a:pPr indent="0" marL="0">
              <a:buNone/>
            </a:pPr>
            <a:r>
              <a:rPr lang="en-US" sz="1100" dirty="0">
                <a:solidFill>
                  <a:schemeClr val="accent5"/>
                </a:solidFill>
              </a:rPr>
              <a:t>Kernel ridge regression, smokers only</a:t>
            </a:r>
            <a:endParaRPr lang="en-US" sz="1100" dirty="0"/>
          </a:p>
        </p:txBody>
      </p:sp>
      <p:sp>
        <p:nvSpPr>
          <p:cNvPr id="7" name="SVM caption"/>
          <p:cNvSpPr txBox="1"/>
          <p:nvPr/>
        </p:nvSpPr>
        <p:spPr>
          <a:xfrm>
            <a:off x="4114800" y="4315968"/>
            <a:ext cx="4572000" cy="274320"/>
          </a:xfrm>
          <a:prstGeom prst="rect">
            <a:avLst/>
          </a:prstGeom>
          <a:noFill/>
          <a:ln/>
        </p:spPr>
        <p:txBody>
          <a:bodyPr wrap="square" lIns="0" tIns="0" rIns="0" bIns="0" rtlCol="0" anchor="t"/>
          <a:lstStyle/>
          <a:p>
            <a:pPr indent="0" marL="0">
              <a:buNone/>
            </a:pPr>
            <a:r>
              <a:rPr lang="en-US" sz="1100" dirty="0">
                <a:solidFill>
                  <a:schemeClr val="accent5"/>
                </a:solidFill>
              </a:rPr>
              <a:t>SVM boundary, non-smokers: blue = low cost, orange = high cost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Live demo: a 35-year-old smoker is rated high cost by all eight classifiers</a:t>
            </a:r>
            <a:endParaRPr lang="en-US" sz="2600" dirty="0"/>
          </a:p>
        </p:txBody>
      </p:sp>
      <p:pic>
        <p:nvPicPr>
          <p:cNvPr id="4" name="pred_cost chart" descr="Estimated yearly bill from five regression models, all well above the median">    </p:cNvPr>
          <p:cNvPicPr>
            <a:picLocks noChangeAspect="1"/>
          </p:cNvPicPr>
          <p:nvPr/>
        </p:nvPicPr>
        <p:blipFill>
          <a:blip r:embed="rId1"/>
          <a:stretch>
            <a:fillRect/>
          </a:stretch>
        </p:blipFill>
        <p:spPr>
          <a:xfrm>
            <a:off x="558805" y="1280160"/>
            <a:ext cx="3865870" cy="3108960"/>
          </a:xfrm>
          <a:prstGeom prst="rect">
            <a:avLst/>
          </a:prstGeom>
        </p:spPr>
      </p:pic>
      <p:pic>
        <p:nvPicPr>
          <p:cNvPr id="5" name="pred_prob chart" descr="Probability of high cost from eight classifiers, all above the 0.5 threshold">    </p:cNvPr>
          <p:cNvPicPr>
            <a:picLocks noChangeAspect="1"/>
          </p:cNvPicPr>
          <p:nvPr/>
        </p:nvPicPr>
        <p:blipFill>
          <a:blip r:embed="rId2"/>
          <a:stretch>
            <a:fillRect/>
          </a:stretch>
        </p:blipFill>
        <p:spPr>
          <a:xfrm>
            <a:off x="4719325" y="1280160"/>
            <a:ext cx="3865870" cy="310896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868680"/>
          </a:xfrm>
          <a:prstGeom prst="rect">
            <a:avLst/>
          </a:prstGeom>
          <a:noFill/>
          <a:ln/>
        </p:spPr>
        <p:txBody>
          <a:bodyPr wrap="square" lIns="0" tIns="0" rIns="0" bIns="0" rtlCol="0" anchor="ctr"/>
          <a:lstStyle/>
          <a:p>
            <a:pPr algn="l" indent="0" marL="0">
              <a:buNone/>
            </a:pPr>
            <a:r>
              <a:rPr lang="en-US" sz="2600" b="1" dirty="0">
                <a:solidFill>
                  <a:schemeClr val="tx2"/>
                </a:solidFill>
              </a:rPr>
              <a:t>What the project shows, and where it stops</a:t>
            </a:r>
            <a:endParaRPr lang="en-US" sz="2600" dirty="0"/>
          </a:p>
        </p:txBody>
      </p:sp>
      <p:sp>
        <p:nvSpPr>
          <p:cNvPr id="4" name="Findings card"/>
          <p:cNvSpPr/>
          <p:nvPr/>
        </p:nvSpPr>
        <p:spPr>
          <a:xfrm>
            <a:off x="457200" y="1325880"/>
            <a:ext cx="4023360" cy="3154680"/>
          </a:xfrm>
          <a:prstGeom prst="roundRect">
            <a:avLst>
              <a:gd name="adj" fmla="val 2319"/>
            </a:avLst>
          </a:prstGeom>
          <a:solidFill>
            <a:schemeClr val="bg2"/>
          </a:solidFill>
          <a:ln w="12700">
            <a:solidFill>
              <a:schemeClr val="bg2"/>
            </a:solidFill>
            <a:prstDash val="solid"/>
          </a:ln>
        </p:spPr>
      </p:sp>
      <p:sp>
        <p:nvSpPr>
          <p:cNvPr id="5" name="Findings badge"/>
          <p:cNvSpPr txBox="1"/>
          <p:nvPr/>
        </p:nvSpPr>
        <p:spPr>
          <a:xfrm>
            <a:off x="685800" y="1508760"/>
            <a:ext cx="384048" cy="384048"/>
          </a:xfrm>
          <a:prstGeom prst="ellipse">
            <a:avLst/>
          </a:prstGeom>
          <a:solidFill>
            <a:srgbClr val="0F8B8D"/>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6" name="Findings heading"/>
          <p:cNvSpPr txBox="1"/>
          <p:nvPr/>
        </p:nvSpPr>
        <p:spPr>
          <a:xfrm>
            <a:off x="1207008" y="1508760"/>
            <a:ext cx="3017520" cy="384048"/>
          </a:xfrm>
          <a:prstGeom prst="rect">
            <a:avLst/>
          </a:prstGeom>
          <a:noFill/>
          <a:ln/>
        </p:spPr>
        <p:txBody>
          <a:bodyPr wrap="square" lIns="0" tIns="0" rIns="0" bIns="0" rtlCol="0" anchor="ctr"/>
          <a:lstStyle/>
          <a:p>
            <a:pPr indent="0" marL="0">
              <a:buNone/>
            </a:pPr>
            <a:r>
              <a:rPr lang="en-US" sz="1700" b="1" dirty="0">
                <a:solidFill>
                  <a:schemeClr val="tx2"/>
                </a:solidFill>
              </a:rPr>
              <a:t>Findings</a:t>
            </a:r>
            <a:endParaRPr lang="en-US" sz="1700" dirty="0"/>
          </a:p>
        </p:txBody>
      </p:sp>
      <p:sp>
        <p:nvSpPr>
          <p:cNvPr id="7" name="Findings list"/>
          <p:cNvSpPr txBox="1"/>
          <p:nvPr/>
        </p:nvSpPr>
        <p:spPr>
          <a:xfrm>
            <a:off x="685800" y="2057400"/>
            <a:ext cx="356616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Smoking is the dominant cost driver: about +$23,000 a year.</a:t>
            </a:r>
            <a:endParaRPr lang="en-US" sz="1300" dirty="0"/>
          </a:p>
          <a:p>
            <a:pPr marL="342900" indent="-342900">
              <a:spcAft>
                <a:spcPts val="600"/>
              </a:spcAft>
              <a:buSzPct val="100000"/>
              <a:buChar char="•"/>
            </a:pPr>
            <a:r>
              <a:rPr lang="en-US" sz="1300" dirty="0">
                <a:solidFill>
                  <a:schemeClr val="tx1"/>
                </a:solidFill>
              </a:rPr>
              <a:t>Linear models score R² 0.78 to 0.80; the RBF kernel reaches 0.87 by learning the smoker and BMI interaction.</a:t>
            </a:r>
            <a:endParaRPr lang="en-US" sz="1300" dirty="0"/>
          </a:p>
          <a:p>
            <a:pPr marL="342900" indent="-342900">
              <a:spcAft>
                <a:spcPts val="600"/>
              </a:spcAft>
              <a:buSzPct val="100000"/>
              <a:buChar char="•"/>
            </a:pPr>
            <a:r>
              <a:rPr lang="en-US" sz="1300" dirty="0">
                <a:solidFill>
                  <a:schemeClr val="tx1"/>
                </a:solidFill>
              </a:rPr>
              <a:t>Huber regression stays stable under corrupted data; least squares does not.</a:t>
            </a:r>
            <a:endParaRPr lang="en-US" sz="1300" dirty="0"/>
          </a:p>
          <a:p>
            <a:pPr marL="342900" indent="-342900">
              <a:spcAft>
                <a:spcPts val="600"/>
              </a:spcAft>
              <a:buSzPct val="100000"/>
              <a:buChar char="•"/>
            </a:pPr>
            <a:r>
              <a:rPr lang="en-US" sz="1300" dirty="0">
                <a:solidFill>
                  <a:schemeClr val="tx1"/>
                </a:solidFill>
              </a:rPr>
              <a:t>Naive Bayes shows that a good ranking does not mean good probabilities.</a:t>
            </a:r>
            <a:endParaRPr lang="en-US" sz="1300" dirty="0"/>
          </a:p>
        </p:txBody>
      </p:sp>
      <p:sp>
        <p:nvSpPr>
          <p:cNvPr id="8" name="Limits card"/>
          <p:cNvSpPr/>
          <p:nvPr/>
        </p:nvSpPr>
        <p:spPr>
          <a:xfrm>
            <a:off x="4663440" y="1325880"/>
            <a:ext cx="4023360" cy="3154680"/>
          </a:xfrm>
          <a:prstGeom prst="roundRect">
            <a:avLst>
              <a:gd name="adj" fmla="val 2319"/>
            </a:avLst>
          </a:prstGeom>
          <a:solidFill>
            <a:schemeClr val="bg2"/>
          </a:solidFill>
          <a:ln w="12700">
            <a:solidFill>
              <a:schemeClr val="bg2"/>
            </a:solidFill>
            <a:prstDash val="solid"/>
          </a:ln>
        </p:spPr>
      </p:sp>
      <p:sp>
        <p:nvSpPr>
          <p:cNvPr id="9" name="Limits badge"/>
          <p:cNvSpPr txBox="1"/>
          <p:nvPr/>
        </p:nvSpPr>
        <p:spPr>
          <a:xfrm>
            <a:off x="4892040" y="1508760"/>
            <a:ext cx="384048" cy="384048"/>
          </a:xfrm>
          <a:prstGeom prst="ellipse">
            <a:avLst/>
          </a:prstGeom>
          <a:solidFill>
            <a:srgbClr val="E4572E"/>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0" name="Limits heading"/>
          <p:cNvSpPr txBox="1"/>
          <p:nvPr/>
        </p:nvSpPr>
        <p:spPr>
          <a:xfrm>
            <a:off x="5413248" y="1508760"/>
            <a:ext cx="3017520" cy="384048"/>
          </a:xfrm>
          <a:prstGeom prst="rect">
            <a:avLst/>
          </a:prstGeom>
          <a:noFill/>
          <a:ln/>
        </p:spPr>
        <p:txBody>
          <a:bodyPr wrap="square" lIns="0" tIns="0" rIns="0" bIns="0" rtlCol="0" anchor="ctr"/>
          <a:lstStyle/>
          <a:p>
            <a:pPr indent="0" marL="0">
              <a:buNone/>
            </a:pPr>
            <a:r>
              <a:rPr lang="en-US" sz="1700" b="1" dirty="0">
                <a:solidFill>
                  <a:schemeClr val="tx2"/>
                </a:solidFill>
              </a:rPr>
              <a:t>Limits</a:t>
            </a:r>
            <a:endParaRPr lang="en-US" sz="1700" dirty="0"/>
          </a:p>
        </p:txBody>
      </p:sp>
      <p:sp>
        <p:nvSpPr>
          <p:cNvPr id="11" name="Limits list"/>
          <p:cNvSpPr txBox="1"/>
          <p:nvPr/>
        </p:nvSpPr>
        <p:spPr>
          <a:xfrm>
            <a:off x="4892040" y="2057400"/>
            <a:ext cx="3566160" cy="2331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US textbook dataset of 1,337 customers; not Indian insurance pricing.</a:t>
            </a:r>
            <a:endParaRPr lang="en-US" sz="1300" dirty="0"/>
          </a:p>
          <a:p>
            <a:pPr marL="342900" indent="-342900">
              <a:spcAft>
                <a:spcPts val="600"/>
              </a:spcAft>
              <a:buSzPct val="100000"/>
              <a:buChar char="•"/>
            </a:pPr>
            <a:r>
              <a:rPr lang="en-US" sz="1300" dirty="0">
                <a:solidFill>
                  <a:schemeClr val="tx1"/>
                </a:solidFill>
              </a:rPr>
              <a:t>The high-cost label is derived from the charges target.</a:t>
            </a:r>
            <a:endParaRPr lang="en-US" sz="1300" dirty="0"/>
          </a:p>
          <a:p>
            <a:pPr marL="342900" indent="-342900">
              <a:spcAft>
                <a:spcPts val="600"/>
              </a:spcAft>
              <a:buSzPct val="100000"/>
              <a:buChar char="•"/>
            </a:pPr>
            <a:r>
              <a:rPr lang="en-US" sz="1300" dirty="0">
                <a:solidFill>
                  <a:schemeClr val="tx1"/>
                </a:solidFill>
              </a:rPr>
              <a:t>Hyperparameters are set by hand, not tuned by cross-validation.</a:t>
            </a:r>
            <a:endParaRPr lang="en-US" sz="1300" dirty="0"/>
          </a:p>
          <a:p>
            <a:pPr marL="342900" indent="-342900">
              <a:spcAft>
                <a:spcPts val="600"/>
              </a:spcAft>
              <a:buSzPct val="100000"/>
              <a:buChar char="•"/>
            </a:pPr>
            <a:r>
              <a:rPr lang="en-US" sz="1300" dirty="0">
                <a:solidFill>
                  <a:schemeClr val="tx1"/>
                </a:solidFill>
              </a:rPr>
              <a:t>One fixed train and test split; no confidence intervals on the scores.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8046720" cy="1188720"/>
          </a:xfrm>
          <a:prstGeom prst="rect">
            <a:avLst/>
          </a:prstGeom>
          <a:noFill/>
          <a:ln/>
        </p:spPr>
        <p:txBody>
          <a:bodyPr wrap="square" lIns="0" tIns="0" rIns="0" bIns="0" rtlCol="0" anchor="b"/>
          <a:lstStyle/>
          <a:p>
            <a:pPr algn="l" indent="0" marL="0">
              <a:buNone/>
            </a:pPr>
            <a:r>
              <a:rPr lang="en-US" sz="4600" b="1" dirty="0">
                <a:solidFill>
                  <a:schemeClr val="bg1"/>
                </a:solidFill>
              </a:rPr>
              <a:t>Thank you</a:t>
            </a:r>
            <a:endParaRPr lang="en-US" sz="4600" dirty="0"/>
          </a:p>
        </p:txBody>
      </p:sp>
      <p:sp>
        <p:nvSpPr>
          <p:cNvPr id="3" name="Text 0"/>
          <p:cNvSpPr/>
          <p:nvPr>
            <p:ph idx="101" type="body" hasCustomPrompt="1"/>
          </p:nvPr>
        </p:nvSpPr>
        <p:spPr>
          <a:xfrm>
            <a:off x="548640" y="2651760"/>
            <a:ext cx="8046720" cy="822960"/>
          </a:xfrm>
          <a:prstGeom prst="rect">
            <a:avLst/>
          </a:prstGeom>
          <a:noFill/>
          <a:ln/>
        </p:spPr>
        <p:txBody>
          <a:bodyPr wrap="square" lIns="0" tIns="0" rIns="0" bIns="0" rtlCol="0" anchor="t"/>
          <a:lstStyle/>
          <a:p>
            <a:pPr algn="l" indent="0" marL="0">
              <a:buNone/>
            </a:pPr>
            <a:r>
              <a:rPr lang="en-US" sz="2000" dirty="0">
                <a:solidFill>
                  <a:schemeClr val="bg2"/>
                </a:solidFill>
              </a:rPr>
              <a:t>Questions and live demo</a:t>
            </a:r>
            <a:endParaRPr lang="en-US" sz="2000" dirty="0"/>
          </a:p>
        </p:txBody>
      </p:sp>
      <p:sp>
        <p:nvSpPr>
          <p:cNvPr id="4" name="Links"/>
          <p:cNvSpPr txBox="1"/>
          <p:nvPr/>
        </p:nvSpPr>
        <p:spPr>
          <a:xfrm>
            <a:off x="548640" y="3611880"/>
            <a:ext cx="8046720" cy="1051560"/>
          </a:xfrm>
          <a:prstGeom prst="rect">
            <a:avLst/>
          </a:prstGeom>
          <a:noFill/>
          <a:ln/>
        </p:spPr>
        <p:txBody>
          <a:bodyPr wrap="square" lIns="0" tIns="0" rIns="0" bIns="0" rtlCol="0" anchor="t"/>
          <a:lstStyle/>
          <a:p>
            <a:pPr indent="0" marL="0">
              <a:spcAft>
                <a:spcPts val="400"/>
              </a:spcAft>
              <a:buNone/>
            </a:pPr>
            <a:r>
              <a:rPr lang="en-US" sz="1400" b="1" dirty="0">
                <a:solidFill>
                  <a:schemeClr val="bg2"/>
                </a:solidFill>
              </a:rPr>
              <a:t>Data: </a:t>
            </a:r>
            <a:pPr indent="0" marL="0">
              <a:spcAft>
                <a:spcPts val="400"/>
              </a:spcAft>
              <a:buNone/>
            </a:pPr>
            <a:r>
              <a:rPr lang="en-US" sz="14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kaggle.com/datasets/mirichoi0218/insurance</a:t>
            </a:r>
            <a:endParaRPr lang="en-US" sz="1400" dirty="0"/>
          </a:p>
          <a:p>
            <a:pPr indent="0" marL="0">
              <a:spcAft>
                <a:spcPts val="400"/>
              </a:spcAft>
              <a:buNone/>
            </a:pPr>
            <a:r>
              <a:rPr lang="en-US" sz="1400" b="1" dirty="0">
                <a:solidFill>
                  <a:schemeClr val="bg2"/>
                </a:solidFill>
              </a:rPr>
              <a:t>Run: </a:t>
            </a:r>
            <a:pPr indent="0" marL="0">
              <a:spcAft>
                <a:spcPts val="400"/>
              </a:spcAft>
              <a:buNone/>
            </a:pPr>
            <a:r>
              <a:rPr lang="en-US" sz="1400" dirty="0">
                <a:solidFill>
                  <a:schemeClr val="bg2"/>
                </a:solidFill>
              </a:rPr>
              <a:t>pip install -r requirements.txt, then streamlit run app.py</a:t>
            </a:r>
            <a:endParaRPr lang="en-US" sz="1400" dirty="0"/>
          </a:p>
          <a:p>
            <a:pPr indent="0" marL="0">
              <a:spcAft>
                <a:spcPts val="400"/>
              </a:spcAft>
              <a:buNone/>
            </a:pPr>
            <a:r>
              <a:rPr lang="en-US" sz="1400" dirty="0">
                <a:solidFill>
                  <a:schemeClr val="bg2"/>
                </a:solidFill>
              </a:rPr>
              <a:t>Priyanshu  |  Ashish Kumar  |  Salil Pratap Singh  |  Vedang Pratap Singh</a:t>
            </a:r>
            <a:endParaRPr lang="en-US" sz="1400" dirty="0"/>
          </a:p>
        </p:txBody>
      </p:sp>
    </p:spTree>
  </p:cSld>
  <p:clrMapOvr>
    <a:masterClrMapping/>
  </p:clrMapOvr>
</p:sld>
</file>

<file path=ppt/theme/theme1.xml><?xml version="1.0" encoding="utf-8"?>
<a:theme xmlns:a="http://schemas.openxmlformats.org/drawingml/2006/main" name="MediCost Lab">
  <a:themeElements>
    <a:clrScheme name="MediCost Lab">
      <a:dk1>
        <a:srgbClr val="1C2430"/>
      </a:dk1>
      <a:lt1>
        <a:srgbClr val="FFFFFF"/>
      </a:lt1>
      <a:dk2>
        <a:srgbClr val="14213D"/>
      </a:dk2>
      <a:lt2>
        <a:srgbClr val="F1F5F7"/>
      </a:lt2>
      <a:accent1>
        <a:srgbClr val="0F8B8D"/>
      </a:accent1>
      <a:accent2>
        <a:srgbClr val="E4572E"/>
      </a:accent2>
      <a:accent3>
        <a:srgbClr val="2A78D6"/>
      </a:accent3>
      <a:accent4>
        <a:srgbClr val="F2A541"/>
      </a:accent4>
      <a:accent5>
        <a:srgbClr val="5E6875"/>
      </a:accent5>
      <a:accent6>
        <a:srgbClr val="1BAF7A"/>
      </a:accent6>
      <a:hlink>
        <a:srgbClr val="0F8B8D"/>
      </a:hlink>
      <a:folHlink>
        <a:srgbClr val="5E6875"/>
      </a:folHlink>
    </a:clrScheme>
    <a:fontScheme name="MediCost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MediCost Lab</dc:title>
  <dc:subject>PptxGenJS Presentation</dc:subject>
  <dc:creator>Priyanshu, Ashish Kumar, Salil Pratap Singh, Vedang Pratap Singh</dc:creator>
  <cp:lastModifiedBy>Priyanshu, Ashish Kumar, Salil Pratap Singh, Vedang Pratap Singh</cp:lastModifiedBy>
  <cp:revision>1</cp:revision>
  <dcterms:created xsi:type="dcterms:W3CDTF">2026-10-04T11:11:51Z</dcterms:created>
  <dcterms:modified xsi:type="dcterms:W3CDTF">2026-10-04T11:11:51Z</dcterms:modified>
</cp:coreProperties>
</file>